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[~1:00]</a:t>
            </a:r>
          </a:p>
          <a:p/>
          <a:p>
            <a:r>
              <a:rPr sz="1200"/>
              <a:t>Hi everyone. My project is on building and optimizing a real-time emergency response dispatch system, implemented in Python over three phases.</a:t>
            </a:r>
          </a:p>
          <a:p/>
          <a:p>
            <a:r>
              <a:rPr sz="1200"/>
              <a:t>In Phase 1 I designed the system and built a minimal working prototype. In Phase 2 I delivered a full proof-of-concept with a complete dispatch loop and added support for re-triaging calls mid-queue. In Phase 3 I optimized the nearest-unit lookup using a spatial index, added dynamic edge weight support to the road network, and benchmarked the optimized system against the Phase 2 baseline at scale.</a:t>
            </a:r>
          </a:p>
          <a:p/>
          <a:p>
            <a:r>
              <a:rPr sz="1200"/>
              <a:t>The headline result: at a fleet size of 200 units, the Phase 3 system dispatches calls 105 times faster than Phase 2 - going from about 29 milliseconds per call down to 0.28 milliseconds.</a:t>
            </a:r>
          </a:p>
          <a:p/>
          <a:p>
            <a:r>
              <a:rPr sz="1200"/>
              <a:t>Everything is in a single Python file per phase, with tests and a benchmark included. No external libraries beyond Python's standard heapq and math modules.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[~1:30]</a:t>
            </a:r>
          </a:p>
          <a:p/>
          <a:p>
            <a:r>
              <a:rPr sz="1200"/>
              <a:t>So what's the problem we're solving? An emergency dispatch center needs to handle three things at once on every incoming call.</a:t>
            </a:r>
          </a:p>
          <a:p/>
          <a:p>
            <a:r>
              <a:rPr sz="1200"/>
              <a:t>First, which call do we serve next? If you have critical calls, urgent calls, and standard calls all queued up, you need strict priority ordering - a newly arriving cardiac arrest has to jump to the front immediately.</a:t>
            </a:r>
          </a:p>
          <a:p/>
          <a:p>
            <a:r>
              <a:rPr sz="1200"/>
              <a:t>Second, where is the nearest available unit? You have ambulances, police cars, and fire trucks spread around the city. You need to find the closest one to the incident fast.</a:t>
            </a:r>
          </a:p>
          <a:p/>
          <a:p>
            <a:r>
              <a:rPr sz="1200"/>
              <a:t>Third, what's the fastest route? Once you've picked a unit, you need to compute the shortest path through the road network.</a:t>
            </a:r>
          </a:p>
          <a:p/>
          <a:p>
            <a:r>
              <a:rPr sz="1200"/>
              <a:t>The naive data structures don't scale. A sorted list gives you O(n) insert for the call queue. And scanning every available unit and running a full Dijkstra for each one gives you O(n times Dijkstra) per dispatch - that's the bottleneck I'll spend most of this talk addressing.</a:t>
            </a:r>
          </a:p>
          <a:p/>
          <a:p>
            <a:r>
              <a:rPr sz="1200"/>
              <a:t>Haghani and Yang's 2007 study on real-world emergency fleet deployment confirms that response time is the dominant operational metric, so this isn't academic - getting these operations fast matters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[~1:30]</a:t>
            </a:r>
          </a:p>
          <a:p/>
          <a:p>
            <a:r>
              <a:rPr sz="1200"/>
              <a:t>The system is built around three core data structures.</a:t>
            </a:r>
          </a:p>
          <a:p/>
          <a:p>
            <a:r>
              <a:rPr sz="1200"/>
              <a:t>The call queue is a min-heap - the element with the lowest priority number, meaning most critical, sits at the root. Push and pop are O(log n), peek is O(1).</a:t>
            </a:r>
          </a:p>
          <a:p/>
          <a:p>
            <a:r>
              <a:rPr sz="1200"/>
              <a:t>The road network is an adjacency-list graph. Each location maps to a list of neighboring locations with travel-time weights. Shortest paths use Dijkstra's algorithm, which runs in O((V+E) log V) with a min-heap. I chose an adjacency list over a matrix because road networks are sparse - a typical intersection connects to three or four roads, so a matrix would be mostly zeros.</a:t>
            </a:r>
          </a:p>
          <a:p/>
          <a:p>
            <a:r>
              <a:rPr sz="1200"/>
              <a:t>The dispatch table is a hash table - Python's built-in dict. It stores unit type, current location, and availability status for every responder in the fleet. Lookup, insert, and update are all O(1) average.</a:t>
            </a:r>
          </a:p>
          <a:p/>
          <a:p>
            <a:r>
              <a:rPr sz="1200"/>
              <a:t>In Phase 3 I added a fourth component: a 2D k-d tree spatial index. I'll explain it properly on slide 7, but the short version is: it indexes available unit positions by coordinates, supports nearest-neighbor queries in O(log n), and is what makes Phase 3 105x faster than Phase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[~1:30]</a:t>
            </a:r>
          </a:p>
          <a:p/>
          <a:p>
            <a:r>
              <a:rPr sz="1200"/>
              <a:t>Phase 1 was about picking the right data structures and getting a working prototype. I implemented the four core classes and a demonstration script that builds a small 8-location city graph, registers some units, queues some calls, and dispatches them.</a:t>
            </a:r>
          </a:p>
          <a:p/>
          <a:p>
            <a:r>
              <a:rPr sz="1200"/>
              <a:t>The demo confirmed the basics work: the priority queue pops calls in correct priority order, and Dijkstra returns the right minimum-travel-time route. I included a pseudocode snippet on this slide for Dijkstra - the key steps are: initialize distances to infinity, set source to zero, push to heap, then relax edges greedily, skipping stale heap entries using the standard lazy-deletion check.</a:t>
            </a:r>
          </a:p>
          <a:p/>
          <a:p>
            <a:r>
              <a:rPr sz="1200"/>
              <a:t>But more importantly, Phase 1 explicitly identified three limitations. No decrease-key in the call queue - you can't efficiently re-triage a call once it's enqueued. Static edge weights - no way to model traffic or closures. And the nearest-unit search runs one Dijkstra per unit, which is O(n times Dijkstra). These three became the roadmap for the next two phases.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[~2:00]</a:t>
            </a:r>
          </a:p>
          <a:p/>
          <a:p>
            <a:r>
              <a:rPr sz="1200"/>
              <a:t>The main technical contribution in Phase 2 was adding decrease_key to the call queue.</a:t>
            </a:r>
          </a:p>
          <a:p/>
          <a:p>
            <a:r>
              <a:rPr sz="1200"/>
              <a:t>Python's heapq module doesn't support it. The standard workaround is lazy deletion - mark the old entry as removed and push a new one with the updated priority. I rejected this because the re-triaged call would still wait behind stale entries in the heap until they're popped and thrown away one by one. For a dispatch system where a call can flip from standard to critical, that delay is unacceptable.</a:t>
            </a:r>
          </a:p>
          <a:p/>
          <a:p>
            <a:r>
              <a:rPr sz="1200"/>
              <a:t>Instead I built a custom binary heap with an index_map dictionary that tracks each call's current array index. The key insight is the _swap helper: every time two elements swap positions during a sift operation, both entries in the map get updated atomically. This means decrease_key can locate any call in O(1) and sift it upward in O(log n).</a:t>
            </a:r>
          </a:p>
          <a:p/>
          <a:p>
            <a:r>
              <a:rPr sz="1200"/>
              <a:t>The tradeoff is roughly double the memory - the heap array plus the index_map - and the added complexity of keeping the map consistent through every swap. Centralizing all swaps through one _swap method means the map can't accidentally fall out of sync.</a:t>
            </a:r>
          </a:p>
          <a:p/>
          <a:p>
            <a:r>
              <a:rPr sz="1200"/>
              <a:t>Looking at the code on the right: decrease_key is literally three lines - look up the index, update the priority, sift up. All the bookkeeping is in _swap.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[~1:00]</a:t>
            </a:r>
          </a:p>
          <a:p/>
          <a:p>
            <a:r>
              <a:rPr sz="1200"/>
              <a:t>Phase 2 had 8 tests. I'll highlight the important ones.</a:t>
            </a:r>
          </a:p>
          <a:p/>
          <a:p>
            <a:r>
              <a:rPr sz="1200"/>
              <a:t>Test 2 is the most important: I inserted three calls at priorities 2, 3, and 2, then re-triaged the priority-3 call down to priority 1. After the re-triage it immediately became the queue head, and was the first one dispatched. That's the whole point of decrease_key.</a:t>
            </a:r>
          </a:p>
          <a:p/>
          <a:p>
            <a:r>
              <a:rPr sz="1200"/>
              <a:t>Test 5 is the end-to-end test: three calls arrived in the order standard, urgent, critical. The system dispatched them in order critical, urgent, standard regardless of arrival order. The critical call that arrived last was served first.</a:t>
            </a:r>
          </a:p>
          <a:p/>
          <a:p>
            <a:r>
              <a:rPr sz="1200"/>
              <a:t>Test 8 revealed a known limitation: same-priority ties aren't stable. Python's heap comparison falls through to object identity when priorities match, so arrival order within a level isn't preserved. The fix is straightforward - add a sequence number as a third field in the heap tuple so ties break by arrival order - but it was deferred as a minor issue.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[~1:45]</a:t>
            </a:r>
          </a:p>
          <a:p/>
          <a:p>
            <a:r>
              <a:rPr sz="1200"/>
              <a:t>Phase 3's main optimization is the k-d tree spatial index. Let me walk through why it works and what the tradeoffs are.</a:t>
            </a:r>
          </a:p>
          <a:p/>
          <a:p>
            <a:r>
              <a:rPr sz="1200"/>
              <a:t>The problem: Phase 2 runs one Dijkstra per available unit. At fleet size 200 on a 400-node graph that's ~29ms per dispatch. The issue is that most of those 200 Dijkstras are completely wasted - you only need the one unit that's nearest to the incident.</a:t>
            </a:r>
          </a:p>
          <a:p/>
          <a:p>
            <a:r>
              <a:rPr sz="1200"/>
              <a:t>The fix: assign (x, y) coordinates to each road network location. Build a k-d tree over available unit positions. When a call comes in, query the tree for the 3 geographically nearest unit candidates in O(log n). Then run Dijkstra for only those 3. Total cost per dispatch: O(n log n) to rebuild the tree after assigning a unit, O(log n) for the tree query, and O(3 times (V+E) log V) for the 3 Dijkstras.</a:t>
            </a:r>
          </a:p>
          <a:p/>
          <a:p>
            <a:r>
              <a:rPr sz="1200"/>
              <a:t>The tree build works by recursive median splitting. At each level you sort the current points by one axis - alternating between x and y - and split at the median. This gives a balanced binary tree in O(n log n). Nearest-neighbor queries work by going down the near subtree first, then checking whether the splitting plane is close enough that the far subtree might contain a closer point. If not, prune it.</a:t>
            </a:r>
          </a:p>
          <a:p/>
          <a:p>
            <a:r>
              <a:rPr sz="1200"/>
              <a:t>The key question is whether Euclidean proximity is a reliable proxy for road network distance. For urban grids it works well because edge density is roughly uniform. I use k=3 rather than k=1 as a safety margin - in Test 4 I verified that across all 6 city locations, the k=3 candidates always contained the true graph-nearest unit.</a:t>
            </a:r>
          </a:p>
          <a:p/>
          <a:p>
            <a:r>
              <a:rPr sz="1200"/>
              <a:t>The second Phase 3 change is dynamic edge weights. I changed edge storage from tuples - which are immutable - to mutable lists, so update_weight can scan both adjacency entries and modify them in place in O(degree) time. Dijkstra is always re-run from scratch, so updated weights are automatically reflected.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[~1:30]</a:t>
            </a:r>
          </a:p>
          <a:p/>
          <a:p>
            <a:r>
              <a:rPr sz="1200"/>
              <a:t>Here are the benchmark numbers. I ran on a 20x20 grid - 400 nodes, about 760 edges - with fleet sizes 10, 25, 50, 100, and 200 units. Each number is the average milliseconds per dispatch_next() call over 15 calls and 3 repeats. Phase 3 timing includes the full cost of each dispatch - tree query, k Dijkstras, and tree rebuild. Nothing is excluded.</a:t>
            </a:r>
          </a:p>
          <a:p/>
          <a:p>
            <a:r>
              <a:rPr sz="1200"/>
              <a:t>Phase 2 scales linearly. Each additional unit adds one more Dijkstra run, which costs roughly 0.145ms on this hardware. At n=10 you're under a millisecond; at n=200 you're at 29ms. That linear relationship is the direct consequence of the O(n times Dijkstra) loop.</a:t>
            </a:r>
          </a:p>
          <a:p/>
          <a:p>
            <a:r>
              <a:rPr sz="1200"/>
              <a:t>Phase 3 stays roughly flat between 0.16 and 0.28ms across all fleet sizes because the Dijkstra count is fixed at 3. The speedup starts at 2.6x at n=10 - where the tree rebuild overhead is proportionally large compared to saving only 7 Dijkstras - and grows to 105x at n=200, where you're saving 197 Dijkstras per dispatch.</a:t>
            </a:r>
          </a:p>
          <a:p/>
          <a:p>
            <a:r>
              <a:rPr sz="1200"/>
              <a:t>The slight upward trend in Phase 3 from n=50 to n=200 is the O(n log n) tree rebuild. It grows, but sorting 200 2D points is much cheaper than running 200 graph searches.</a:t>
            </a:r>
          </a:p>
          <a:p/>
          <a:p>
            <a:r>
              <a:rPr sz="1200"/>
              <a:t>An important point: both systems use identical Dijkstra code on the same graph. The entire speedup is purely from running 3 Dijkstras instead of n - no approximations, no caching of shortest paths.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[~0:50]</a:t>
            </a:r>
          </a:p>
          <a:p/>
          <a:p>
            <a:r>
              <a:rPr sz="1200"/>
              <a:t>For validation, Phase 2 had 8 tests and Phase 3 had 6, for 14 tests total.</a:t>
            </a:r>
          </a:p>
          <a:p/>
          <a:p>
            <a:r>
              <a:rPr sz="1200"/>
              <a:t>The two most important Phase 3 tests are Test 4 and Test 5.</a:t>
            </a:r>
          </a:p>
          <a:p/>
          <a:p>
            <a:r>
              <a:rPr sz="1200"/>
              <a:t>Test 4 is the k-d tree accuracy check. For every one of the 6 city-network locations I compared the unit chosen by k-d tree with k=3 against the unit chosen by brute-force Dijkstra over all 5 available units. All 6 matched. This validates that k=3 is sufficient for this particular network - the 3 Euclidean-nearest units always included the true graph-nearest unit.</a:t>
            </a:r>
          </a:p>
          <a:p/>
          <a:p>
            <a:r>
              <a:rPr sz="1200"/>
              <a:t>Test 5 is the stress test. 100 consecutive dispatches on a 10x10 grid with 30 units. After every 10 dispatches I returned all dispatched units to available status at their current locations, so the fleet never ran dry. No crashes, no assertion failures, and the tree rebuild stayed correct even as unit locations shifted between dispatches.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[~1:15]</a:t>
            </a:r>
          </a:p>
          <a:p/>
          <a:p>
            <a:r>
              <a:rPr sz="1200"/>
              <a:t>Four limitations worth being upfront about.</a:t>
            </a:r>
          </a:p>
          <a:p/>
          <a:p>
            <a:r>
              <a:rPr sz="1200"/>
              <a:t>First, same-priority FIFO. Python's heap comparison falls through to object identity on ties, so arrival order within a priority level isn't preserved. This matters if you have a burst of urgent calls and want to serve them in the order they came in. The fix is a sequence-number tiebreaker: change the heap tuple from (priority, call) to (priority, seq, call), where seq is an auto-incrementing counter. Straightforward to implement, just deferred.</a:t>
            </a:r>
          </a:p>
          <a:p/>
          <a:p>
            <a:r>
              <a:rPr sz="1200"/>
              <a:t>Second, the k-d tree is rebuilt from scratch after every dispatch at O(n log n). This is the dominant cost in Phase 3 at large fleet sizes. Lazy deletion - marking dispatched units as inactive and skipping them during queries - would eliminate most rebuilds. The downside is gradual tree imbalance as deleted nodes accumulate. A hybrid approach - lazy deletion most of the time, full rebuild every m dispatches - would balance correctness and performance.</a:t>
            </a:r>
          </a:p>
          <a:p/>
          <a:p>
            <a:r>
              <a:rPr sz="1200"/>
              <a:t>Third, k=3 was only validated on a small synthetic network with no physical barriers. On a real city with rivers, rail lines, or highway underpasses, the Euclidean nearest unit might be on the wrong side of a barrier and require a much longer road detour. In that case k=3 might miss the true graph-nearest unit. The right k should be calibrated against actual dispatch history.</a:t>
            </a:r>
          </a:p>
          <a:p/>
          <a:p>
            <a:r>
              <a:rPr sz="1200"/>
              <a:t>Fourth, Dijkstra from scratch every dispatch. This is fine when edge weight updates are infrequent - maybe a few per minute for traffic conditions. If you had a real-time feed updating many edges per second, an incremental shortest-path algorithm like LPA* from Ramalingam and Reps 1996 would be more efficient, as it only re-propagates the parts of the shortest-path tree affected by each weight change.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[~1:15]</a:t>
            </a:r>
          </a:p>
          <a:p/>
          <a:p>
            <a:r>
              <a:rPr sz="1200"/>
              <a:t>Five directions for future work, roughly in order of implementation complexity.</a:t>
            </a:r>
          </a:p>
          <a:p/>
          <a:p>
            <a:r>
              <a:rPr sz="1200"/>
              <a:t>Real road network: replace the synthetic grid with OpenStreetMap data. This adds one-way streets, turn restrictions, and variable road capacities, and would require a proper graph library rather than the hand-built adjacency list. The spatial index would likely also need to be replaced with an R-tree or a database spatial index.</a:t>
            </a:r>
          </a:p>
          <a:p/>
          <a:p>
            <a:r>
              <a:rPr sz="1200"/>
              <a:t>Contraction hierarchies from Geisberger et al. 2008: this preprocessing technique adds virtual shortcut edges to the graph and uses bidirectional Dijkstra, reducing query time to sub-millisecond on graphs with millions of nodes. At that point the k-d tree rebuild becomes the bottleneck, which makes the lazy-deletion improvement much more important.</a:t>
            </a:r>
          </a:p>
          <a:p/>
          <a:p>
            <a:r>
              <a:rPr sz="1200"/>
              <a:t>Dynamic priority scoring: replace the static priority levels 1, 2, 3 with a continuous urgency score that increases over wait time. This prevents starvation - right now a standard call could theoretically wait indefinitely if there's a steady stream of urgent calls. A time-decaying score would ensure everything eventually gets dispatched.</a:t>
            </a:r>
          </a:p>
          <a:p/>
          <a:p>
            <a:r>
              <a:rPr sz="1200"/>
              <a:t>Multi-unit dispatch: many real incidents require multiple units - a cardiac arrest gets both an ambulance and a police car. This changes the nearest-unit search from a single-nearest problem to a k-assignment problem, which is significantly harder and would require a different dispatch loop structure.</a:t>
            </a:r>
          </a:p>
          <a:p/>
          <a:p>
            <a:r>
              <a:rPr sz="1200"/>
              <a:t>Predictive pre-positioning: the most impactful but also the most complex. Move idle units toward high-demand areas based on historical call patterns and time of day. This requires stochastic optimization or machine learning on top of the dispatch infrastructure built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[~1:00]</a:t>
            </a:r>
          </a:p>
          <a:p/>
          <a:p>
            <a:r>
              <a:rPr sz="1200"/>
              <a:t>To wrap up.</a:t>
            </a:r>
          </a:p>
          <a:p/>
          <a:p>
            <a:r>
              <a:rPr sz="1200"/>
              <a:t>I built a functional real-time emergency dispatch system from first principles using three standard data structures: a min-heap for call prioritization, an adjacency-list graph with Dijkstra for routing, and a hash table for unit tracking.</a:t>
            </a:r>
          </a:p>
          <a:p/>
          <a:p>
            <a:r>
              <a:rPr sz="1200"/>
              <a:t>Phase 2 added the key capability of re-triage via a custom heap with an index_map for O(log n) decrease_key. Phase 3 added a k-d tree spatial index that reduced dispatch latency by 105x at fleet size 200 by replacing O(n) Dijkstra calls with 3.</a:t>
            </a:r>
          </a:p>
          <a:p/>
          <a:p>
            <a:r>
              <a:rPr sz="1200"/>
              <a:t>The system passed 14 tests including a 100-call stress test. Four known limitations remain - FIFO ties, full tree rebuild, k calibration, and fresh-Dijkstra on each dispatch - all with clear proposed fixes.</a:t>
            </a:r>
          </a:p>
          <a:p/>
          <a:p>
            <a:r>
              <a:rPr sz="1200"/>
              <a:t>The broader lesson is the development pattern: build a correct baseline first, measure where the bottleneck actually is, then optimize that specific thing. The Phase 2 to Phase 3 optimization was targeted entirely at the O(n times Dijkstra) loop, which was the measured bottleneck. That's why it produced such a large speedup.</a:t>
            </a:r>
          </a:p>
          <a:p/>
          <a:p>
            <a:r>
              <a:rPr sz="1200"/>
              <a:t>Thanks -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0515600" cy="822960"/>
          </a:xfrm>
          <a:prstGeom prst="rect">
            <a:avLst/>
          </a:prstGeom>
          <a:noFill/>
        </p:spPr>
        <p:txBody>
          <a:bodyPr wrap="square">
            <a:spAutoFit/>
          </a:bodyPr>
          <a:lstStyle/>
          <a:p>
            <a:pPr algn="ctr"/>
            <a:r>
              <a:rPr sz="3800" b="1" i="0">
                <a:solidFill>
                  <a:srgbClr val="FFFFFF"/>
                </a:solidFill>
              </a:rPr>
              <a:t>Emergency Response Dispatch System</a:t>
            </a:r>
          </a:p>
        </p:txBody>
      </p:sp>
      <p:sp>
        <p:nvSpPr>
          <p:cNvPr id="4" name="TextBox 3"/>
          <p:cNvSpPr txBox="1"/>
          <p:nvPr/>
        </p:nvSpPr>
        <p:spPr>
          <a:xfrm>
            <a:off x="731520" y="1920240"/>
            <a:ext cx="10515600" cy="502920"/>
          </a:xfrm>
          <a:prstGeom prst="rect">
            <a:avLst/>
          </a:prstGeom>
          <a:noFill/>
        </p:spPr>
        <p:txBody>
          <a:bodyPr wrap="square">
            <a:spAutoFit/>
          </a:bodyPr>
          <a:lstStyle/>
          <a:p>
            <a:pPr algn="ctr"/>
            <a:r>
              <a:rPr sz="2000" b="0" i="1">
                <a:solidFill>
                  <a:srgbClr val="B0C8E8"/>
                </a:solidFill>
              </a:rPr>
              <a:t>Developing and Optimizing Data Structures for Real-World Applications</a:t>
            </a:r>
          </a:p>
        </p:txBody>
      </p:sp>
      <p:sp>
        <p:nvSpPr>
          <p:cNvPr id="5" name="Rectangle 4"/>
          <p:cNvSpPr/>
          <p:nvPr/>
        </p:nvSpPr>
        <p:spPr>
          <a:xfrm>
            <a:off x="274320" y="2514600"/>
            <a:ext cx="11640312" cy="27432"/>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697480"/>
            <a:ext cx="10515600" cy="411480"/>
          </a:xfrm>
          <a:prstGeom prst="rect">
            <a:avLst/>
          </a:prstGeom>
          <a:noFill/>
        </p:spPr>
        <p:txBody>
          <a:bodyPr wrap="square">
            <a:spAutoFit/>
          </a:bodyPr>
          <a:lstStyle/>
          <a:p>
            <a:pPr algn="ctr"/>
            <a:r>
              <a:rPr sz="1600" b="0" i="0">
                <a:solidFill>
                  <a:srgbClr val="CCDDEE"/>
                </a:solidFill>
              </a:rPr>
              <a:t>Samia Zaman  |  MSCS-532  |  University of the Cumberlands  |  April 2026</a:t>
            </a:r>
          </a:p>
        </p:txBody>
      </p:sp>
      <p:sp>
        <p:nvSpPr>
          <p:cNvPr id="7" name="Rectangle 6"/>
          <p:cNvSpPr/>
          <p:nvPr/>
        </p:nvSpPr>
        <p:spPr>
          <a:xfrm>
            <a:off x="1097280" y="3749039"/>
            <a:ext cx="2926080" cy="13716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794760"/>
            <a:ext cx="2926080" cy="640080"/>
          </a:xfrm>
          <a:prstGeom prst="rect">
            <a:avLst/>
          </a:prstGeom>
          <a:noFill/>
        </p:spPr>
        <p:txBody>
          <a:bodyPr wrap="square">
            <a:spAutoFit/>
          </a:bodyPr>
          <a:lstStyle/>
          <a:p>
            <a:pPr algn="ctr"/>
            <a:r>
              <a:rPr sz="2200" b="1" i="0">
                <a:solidFill>
                  <a:srgbClr val="FFFFFF"/>
                </a:solidFill>
              </a:rPr>
              <a:t>Phase 1</a:t>
            </a:r>
          </a:p>
        </p:txBody>
      </p:sp>
      <p:sp>
        <p:nvSpPr>
          <p:cNvPr id="9" name="TextBox 8"/>
          <p:cNvSpPr txBox="1"/>
          <p:nvPr/>
        </p:nvSpPr>
        <p:spPr>
          <a:xfrm>
            <a:off x="1097280" y="4389120"/>
            <a:ext cx="2926080" cy="548640"/>
          </a:xfrm>
          <a:prstGeom prst="rect">
            <a:avLst/>
          </a:prstGeom>
          <a:noFill/>
        </p:spPr>
        <p:txBody>
          <a:bodyPr wrap="square">
            <a:spAutoFit/>
          </a:bodyPr>
          <a:lstStyle/>
          <a:p>
            <a:pPr algn="ctr"/>
            <a:r>
              <a:rPr sz="1400" b="0" i="0">
                <a:solidFill>
                  <a:srgbClr val="CCDDFF"/>
                </a:solidFill>
              </a:rPr>
              <a:t>Design &amp; Prototype</a:t>
            </a:r>
          </a:p>
        </p:txBody>
      </p:sp>
      <p:sp>
        <p:nvSpPr>
          <p:cNvPr id="10" name="Rectangle 9"/>
          <p:cNvSpPr/>
          <p:nvPr/>
        </p:nvSpPr>
        <p:spPr>
          <a:xfrm>
            <a:off x="4572000" y="3749039"/>
            <a:ext cx="2926080" cy="13716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3794760"/>
            <a:ext cx="2926080" cy="640080"/>
          </a:xfrm>
          <a:prstGeom prst="rect">
            <a:avLst/>
          </a:prstGeom>
          <a:noFill/>
        </p:spPr>
        <p:txBody>
          <a:bodyPr wrap="square">
            <a:spAutoFit/>
          </a:bodyPr>
          <a:lstStyle/>
          <a:p>
            <a:pPr algn="ctr"/>
            <a:r>
              <a:rPr sz="2200" b="1" i="0">
                <a:solidFill>
                  <a:srgbClr val="FFFFFF"/>
                </a:solidFill>
              </a:rPr>
              <a:t>Phase 2</a:t>
            </a:r>
          </a:p>
        </p:txBody>
      </p:sp>
      <p:sp>
        <p:nvSpPr>
          <p:cNvPr id="12" name="TextBox 11"/>
          <p:cNvSpPr txBox="1"/>
          <p:nvPr/>
        </p:nvSpPr>
        <p:spPr>
          <a:xfrm>
            <a:off x="4572000" y="4389120"/>
            <a:ext cx="2926080" cy="548640"/>
          </a:xfrm>
          <a:prstGeom prst="rect">
            <a:avLst/>
          </a:prstGeom>
          <a:noFill/>
        </p:spPr>
        <p:txBody>
          <a:bodyPr wrap="square">
            <a:spAutoFit/>
          </a:bodyPr>
          <a:lstStyle/>
          <a:p>
            <a:pPr algn="ctr"/>
            <a:r>
              <a:rPr sz="1400" b="0" i="0">
                <a:solidFill>
                  <a:srgbClr val="CCDDFF"/>
                </a:solidFill>
              </a:rPr>
              <a:t>Proof of Concept</a:t>
            </a:r>
          </a:p>
        </p:txBody>
      </p:sp>
      <p:sp>
        <p:nvSpPr>
          <p:cNvPr id="13" name="Rectangle 12"/>
          <p:cNvSpPr/>
          <p:nvPr/>
        </p:nvSpPr>
        <p:spPr>
          <a:xfrm>
            <a:off x="8046719" y="3749039"/>
            <a:ext cx="2926080" cy="13716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9" y="3794760"/>
            <a:ext cx="2926080" cy="640080"/>
          </a:xfrm>
          <a:prstGeom prst="rect">
            <a:avLst/>
          </a:prstGeom>
          <a:noFill/>
        </p:spPr>
        <p:txBody>
          <a:bodyPr wrap="square">
            <a:spAutoFit/>
          </a:bodyPr>
          <a:lstStyle/>
          <a:p>
            <a:pPr algn="ctr"/>
            <a:r>
              <a:rPr sz="2200" b="1" i="0">
                <a:solidFill>
                  <a:srgbClr val="FFFFFF"/>
                </a:solidFill>
              </a:rPr>
              <a:t>Phase 3</a:t>
            </a:r>
          </a:p>
        </p:txBody>
      </p:sp>
      <p:sp>
        <p:nvSpPr>
          <p:cNvPr id="15" name="TextBox 14"/>
          <p:cNvSpPr txBox="1"/>
          <p:nvPr/>
        </p:nvSpPr>
        <p:spPr>
          <a:xfrm>
            <a:off x="8046719" y="4389120"/>
            <a:ext cx="2926080" cy="548640"/>
          </a:xfrm>
          <a:prstGeom prst="rect">
            <a:avLst/>
          </a:prstGeom>
          <a:noFill/>
        </p:spPr>
        <p:txBody>
          <a:bodyPr wrap="square">
            <a:spAutoFit/>
          </a:bodyPr>
          <a:lstStyle/>
          <a:p>
            <a:pPr algn="ctr"/>
            <a:r>
              <a:rPr sz="1400" b="0" i="0">
                <a:solidFill>
                  <a:srgbClr val="CCDDFF"/>
                </a:solidFill>
              </a:rPr>
              <a:t>Optimization &amp; Scale</a:t>
            </a:r>
          </a:p>
        </p:txBody>
      </p:sp>
      <p:sp>
        <p:nvSpPr>
          <p:cNvPr id="16" name="TextBox 15"/>
          <p:cNvSpPr txBox="1"/>
          <p:nvPr/>
        </p:nvSpPr>
        <p:spPr>
          <a:xfrm>
            <a:off x="731520" y="5577840"/>
            <a:ext cx="10515600" cy="457200"/>
          </a:xfrm>
          <a:prstGeom prst="rect">
            <a:avLst/>
          </a:prstGeom>
          <a:noFill/>
        </p:spPr>
        <p:txBody>
          <a:bodyPr wrap="square">
            <a:spAutoFit/>
          </a:bodyPr>
          <a:lstStyle/>
          <a:p>
            <a:pPr algn="ctr"/>
            <a:r>
              <a:rPr sz="1300" b="0" i="0">
                <a:solidFill>
                  <a:srgbClr val="88AACC"/>
                </a:solidFill>
              </a:rPr>
              <a:t>GitHub: github.com/Samia1117/MSCS-532/tree/main/Project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9144000" cy="594360"/>
          </a:xfrm>
          <a:prstGeom prst="rect">
            <a:avLst/>
          </a:prstGeom>
          <a:noFill/>
        </p:spPr>
        <p:txBody>
          <a:bodyPr wrap="square">
            <a:spAutoFit/>
          </a:bodyPr>
          <a:lstStyle/>
          <a:p>
            <a:pPr algn="l"/>
            <a:r>
              <a:rPr sz="2600" b="1" i="0">
                <a:solidFill>
                  <a:srgbClr val="FFFFFF"/>
                </a:solidFill>
              </a:rPr>
              <a:t>Problem &amp; Motivation</a:t>
            </a:r>
          </a:p>
        </p:txBody>
      </p:sp>
      <p:sp>
        <p:nvSpPr>
          <p:cNvPr id="5" name="TextBox 4"/>
          <p:cNvSpPr txBox="1"/>
          <p:nvPr/>
        </p:nvSpPr>
        <p:spPr>
          <a:xfrm>
            <a:off x="274320" y="685800"/>
            <a:ext cx="9144000" cy="320040"/>
          </a:xfrm>
          <a:prstGeom prst="rect">
            <a:avLst/>
          </a:prstGeom>
          <a:noFill/>
        </p:spPr>
        <p:txBody>
          <a:bodyPr wrap="square">
            <a:spAutoFit/>
          </a:bodyPr>
          <a:lstStyle/>
          <a:p>
            <a:pPr algn="l"/>
            <a:r>
              <a:rPr sz="1400" b="0" i="1">
                <a:solidFill>
                  <a:srgbClr val="B0C8E8"/>
                </a:solidFill>
              </a:rPr>
              <a:t>Why does dispatch need efficient data structures?</a:t>
            </a:r>
          </a:p>
        </p:txBody>
      </p:sp>
      <p:sp>
        <p:nvSpPr>
          <p:cNvPr id="6" name="TextBox 5"/>
          <p:cNvSpPr txBox="1"/>
          <p:nvPr/>
        </p:nvSpPr>
        <p:spPr>
          <a:xfrm>
            <a:off x="457200" y="1188720"/>
            <a:ext cx="6858000" cy="5029200"/>
          </a:xfrm>
          <a:prstGeom prst="rect">
            <a:avLst/>
          </a:prstGeom>
          <a:noFill/>
        </p:spPr>
        <p:txBody>
          <a:bodyPr wrap="square">
            <a:spAutoFit/>
          </a:bodyPr>
          <a:lstStyle/>
          <a:p>
            <a:pPr>
              <a:spcBef>
                <a:spcPts val="400"/>
              </a:spcBef>
            </a:pPr>
            <a:r>
              <a:rPr sz="1700">
                <a:solidFill>
                  <a:srgbClr val="1C1C1C"/>
                </a:solidFill>
              </a:rPr>
              <a:t>Emergency dispatch handles millions of calls per year</a:t>
            </a:r>
          </a:p>
          <a:p>
            <a:pPr>
              <a:spcBef>
                <a:spcPts val="400"/>
              </a:spcBef>
            </a:pPr>
            <a:r>
              <a:rPr sz="1700">
                <a:solidFill>
                  <a:srgbClr val="1C1C1C"/>
                </a:solidFill>
              </a:rPr>
              <a:t/>
            </a:r>
          </a:p>
          <a:p>
            <a:pPr>
              <a:spcBef>
                <a:spcPts val="400"/>
              </a:spcBef>
            </a:pPr>
            <a:r>
              <a:rPr sz="1700">
                <a:solidFill>
                  <a:srgbClr val="1C1C1C"/>
                </a:solidFill>
              </a:rPr>
              <a:t>Three concurrent problems on every call:</a:t>
            </a:r>
          </a:p>
          <a:p>
            <a:pPr>
              <a:spcBef>
                <a:spcPts val="400"/>
              </a:spcBef>
            </a:pPr>
            <a:r>
              <a:rPr sz="1700">
                <a:solidFill>
                  <a:srgbClr val="1C1C1C"/>
                </a:solidFill>
              </a:rPr>
              <a:t>   1. Which call do we serve next?  (priority ordering)</a:t>
            </a:r>
          </a:p>
          <a:p>
            <a:pPr>
              <a:spcBef>
                <a:spcPts val="400"/>
              </a:spcBef>
            </a:pPr>
            <a:r>
              <a:rPr sz="1700">
                <a:solidFill>
                  <a:srgbClr val="1C1C1C"/>
                </a:solidFill>
              </a:rPr>
              <a:t>   2. Where is the nearest available unit?  (spatial query)</a:t>
            </a:r>
          </a:p>
          <a:p>
            <a:pPr>
              <a:spcBef>
                <a:spcPts val="400"/>
              </a:spcBef>
            </a:pPr>
            <a:r>
              <a:rPr sz="1700">
                <a:solidFill>
                  <a:srgbClr val="1C1C1C"/>
                </a:solidFill>
              </a:rPr>
              <a:t>   3. What is the fastest route to the incident?  (shortest path)</a:t>
            </a:r>
          </a:p>
          <a:p>
            <a:pPr>
              <a:spcBef>
                <a:spcPts val="400"/>
              </a:spcBef>
            </a:pPr>
            <a:r>
              <a:rPr sz="1700">
                <a:solidFill>
                  <a:srgbClr val="1C1C1C"/>
                </a:solidFill>
              </a:rPr>
              <a:t/>
            </a:r>
          </a:p>
          <a:p>
            <a:pPr>
              <a:spcBef>
                <a:spcPts val="400"/>
              </a:spcBef>
            </a:pPr>
            <a:r>
              <a:rPr sz="1700">
                <a:solidFill>
                  <a:srgbClr val="1C1C1C"/>
                </a:solidFill>
              </a:rPr>
              <a:t>Naive solutions don't scale:</a:t>
            </a:r>
          </a:p>
          <a:p>
            <a:pPr>
              <a:spcBef>
                <a:spcPts val="400"/>
              </a:spcBef>
            </a:pPr>
            <a:r>
              <a:rPr sz="1700">
                <a:solidFill>
                  <a:srgbClr val="1C1C1C"/>
                </a:solidFill>
              </a:rPr>
              <a:t>   - Sorted list: O(n) insert for call queue</a:t>
            </a:r>
          </a:p>
          <a:p>
            <a:pPr>
              <a:spcBef>
                <a:spcPts val="400"/>
              </a:spcBef>
            </a:pPr>
            <a:r>
              <a:rPr sz="1700">
                <a:solidFill>
                  <a:srgbClr val="1C1C1C"/>
                </a:solidFill>
              </a:rPr>
              <a:t>   - Linear scan: O(n x Dijkstra) per dispatch at large fleet sizes</a:t>
            </a:r>
          </a:p>
          <a:p>
            <a:pPr>
              <a:spcBef>
                <a:spcPts val="400"/>
              </a:spcBef>
            </a:pPr>
            <a:r>
              <a:rPr sz="1700">
                <a:solidFill>
                  <a:srgbClr val="1C1C1C"/>
                </a:solidFill>
              </a:rPr>
              <a:t/>
            </a:r>
          </a:p>
          <a:p>
            <a:pPr>
              <a:spcBef>
                <a:spcPts val="400"/>
              </a:spcBef>
            </a:pPr>
            <a:r>
              <a:rPr sz="1700">
                <a:solidFill>
                  <a:srgbClr val="1C1C1C"/>
                </a:solidFill>
              </a:rPr>
              <a:t>Goal: build a system that handles all three in real time</a:t>
            </a:r>
          </a:p>
          <a:p>
            <a:pPr>
              <a:spcBef>
                <a:spcPts val="400"/>
              </a:spcBef>
            </a:pPr>
            <a:r>
              <a:rPr sz="1700">
                <a:solidFill>
                  <a:srgbClr val="1C1C1C"/>
                </a:solidFill>
              </a:rPr>
              <a:t>and stays fast as fleet size grows to 200+ units</a:t>
            </a:r>
          </a:p>
        </p:txBody>
      </p:sp>
      <p:sp>
        <p:nvSpPr>
          <p:cNvPr id="7" name="Rectangle 6"/>
          <p:cNvSpPr/>
          <p:nvPr/>
        </p:nvSpPr>
        <p:spPr>
          <a:xfrm>
            <a:off x="7680960" y="1188720"/>
            <a:ext cx="3931920" cy="2286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1280160"/>
            <a:ext cx="3749039" cy="457200"/>
          </a:xfrm>
          <a:prstGeom prst="rect">
            <a:avLst/>
          </a:prstGeom>
          <a:noFill/>
        </p:spPr>
        <p:txBody>
          <a:bodyPr wrap="square">
            <a:spAutoFit/>
          </a:bodyPr>
          <a:lstStyle/>
          <a:p>
            <a:pPr algn="ctr"/>
            <a:r>
              <a:rPr sz="1600" b="1" i="0">
                <a:solidFill>
                  <a:srgbClr val="FFFFFF"/>
                </a:solidFill>
              </a:rPr>
              <a:t>Real-world stakes</a:t>
            </a:r>
          </a:p>
        </p:txBody>
      </p:sp>
      <p:sp>
        <p:nvSpPr>
          <p:cNvPr id="9" name="TextBox 8"/>
          <p:cNvSpPr txBox="1"/>
          <p:nvPr/>
        </p:nvSpPr>
        <p:spPr>
          <a:xfrm>
            <a:off x="7772400" y="1737360"/>
            <a:ext cx="3749039" cy="1371600"/>
          </a:xfrm>
          <a:prstGeom prst="rect">
            <a:avLst/>
          </a:prstGeom>
          <a:noFill/>
        </p:spPr>
        <p:txBody>
          <a:bodyPr wrap="square">
            <a:spAutoFit/>
          </a:bodyPr>
          <a:lstStyle/>
          <a:p>
            <a:pPr algn="ctr"/>
            <a:r>
              <a:rPr sz="1400" b="0" i="1">
                <a:solidFill>
                  <a:srgbClr val="B0C8E8"/>
                </a:solidFill>
              </a:rPr>
              <a:t>Haghani &amp; Yang (2007): response time is the dominant metric in emergency fleet deployment</a:t>
            </a:r>
          </a:p>
        </p:txBody>
      </p:sp>
      <p:sp>
        <p:nvSpPr>
          <p:cNvPr id="10" name="Rectangle 9"/>
          <p:cNvSpPr/>
          <p:nvPr/>
        </p:nvSpPr>
        <p:spPr>
          <a:xfrm>
            <a:off x="7680960" y="3657600"/>
            <a:ext cx="3931920" cy="21031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0" y="3749039"/>
            <a:ext cx="3749039" cy="457200"/>
          </a:xfrm>
          <a:prstGeom prst="rect">
            <a:avLst/>
          </a:prstGeom>
          <a:noFill/>
        </p:spPr>
        <p:txBody>
          <a:bodyPr wrap="square">
            <a:spAutoFit/>
          </a:bodyPr>
          <a:lstStyle/>
          <a:p>
            <a:pPr algn="ctr"/>
            <a:r>
              <a:rPr sz="1600" b="1" i="0">
                <a:solidFill>
                  <a:srgbClr val="FFFFFF"/>
                </a:solidFill>
              </a:rPr>
              <a:t>Phase 2 bottleneck</a:t>
            </a:r>
          </a:p>
        </p:txBody>
      </p:sp>
      <p:sp>
        <p:nvSpPr>
          <p:cNvPr id="12" name="TextBox 11"/>
          <p:cNvSpPr txBox="1"/>
          <p:nvPr/>
        </p:nvSpPr>
        <p:spPr>
          <a:xfrm>
            <a:off x="7772400" y="4251960"/>
            <a:ext cx="3749039" cy="1280160"/>
          </a:xfrm>
          <a:prstGeom prst="rect">
            <a:avLst/>
          </a:prstGeom>
          <a:noFill/>
        </p:spPr>
        <p:txBody>
          <a:bodyPr wrap="square">
            <a:spAutoFit/>
          </a:bodyPr>
          <a:lstStyle/>
          <a:p>
            <a:pPr algn="ctr"/>
            <a:r>
              <a:rPr sz="1800" b="1" i="0">
                <a:solidFill>
                  <a:srgbClr val="E86B2C"/>
                </a:solidFill>
              </a:rPr>
              <a:t>Fleet=200 units
~29 ms per dispatch
(O(n x Dijkstra))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9144000" cy="594360"/>
          </a:xfrm>
          <a:prstGeom prst="rect">
            <a:avLst/>
          </a:prstGeom>
          <a:noFill/>
        </p:spPr>
        <p:txBody>
          <a:bodyPr wrap="square">
            <a:spAutoFit/>
          </a:bodyPr>
          <a:lstStyle/>
          <a:p>
            <a:pPr algn="l"/>
            <a:r>
              <a:rPr sz="2600" b="1" i="0">
                <a:solidFill>
                  <a:srgbClr val="FFFFFF"/>
                </a:solidFill>
              </a:rPr>
              <a:t>System Architecture</a:t>
            </a:r>
          </a:p>
        </p:txBody>
      </p:sp>
      <p:sp>
        <p:nvSpPr>
          <p:cNvPr id="5" name="TextBox 4"/>
          <p:cNvSpPr txBox="1"/>
          <p:nvPr/>
        </p:nvSpPr>
        <p:spPr>
          <a:xfrm>
            <a:off x="274320" y="685800"/>
            <a:ext cx="9144000" cy="320040"/>
          </a:xfrm>
          <a:prstGeom prst="rect">
            <a:avLst/>
          </a:prstGeom>
          <a:noFill/>
        </p:spPr>
        <p:txBody>
          <a:bodyPr wrap="square">
            <a:spAutoFit/>
          </a:bodyPr>
          <a:lstStyle/>
          <a:p>
            <a:pPr algn="l"/>
            <a:r>
              <a:rPr sz="1400" b="0" i="1">
                <a:solidFill>
                  <a:srgbClr val="B0C8E8"/>
                </a:solidFill>
              </a:rPr>
              <a:t>Three data structures, one dispatch loop</a:t>
            </a:r>
          </a:p>
        </p:txBody>
      </p:sp>
      <p:sp>
        <p:nvSpPr>
          <p:cNvPr id="6" name="Rectangle 5"/>
          <p:cNvSpPr/>
          <p:nvPr/>
        </p:nvSpPr>
        <p:spPr>
          <a:xfrm>
            <a:off x="365760" y="1188720"/>
            <a:ext cx="3474720" cy="3200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280160"/>
            <a:ext cx="3291840" cy="822960"/>
          </a:xfrm>
          <a:prstGeom prst="rect">
            <a:avLst/>
          </a:prstGeom>
          <a:noFill/>
        </p:spPr>
        <p:txBody>
          <a:bodyPr wrap="square">
            <a:spAutoFit/>
          </a:bodyPr>
          <a:lstStyle/>
          <a:p>
            <a:pPr algn="ctr"/>
            <a:r>
              <a:rPr sz="1700" b="1" i="0">
                <a:solidFill>
                  <a:srgbClr val="FFFFFF"/>
                </a:solidFill>
              </a:rPr>
              <a:t>Call Queue
(Min-Heap)</a:t>
            </a:r>
          </a:p>
        </p:txBody>
      </p:sp>
      <p:sp>
        <p:nvSpPr>
          <p:cNvPr id="8" name="Rectangle 7"/>
          <p:cNvSpPr/>
          <p:nvPr/>
        </p:nvSpPr>
        <p:spPr>
          <a:xfrm>
            <a:off x="274320" y="2148840"/>
            <a:ext cx="11640312" cy="27432"/>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40280"/>
            <a:ext cx="3200400" cy="548640"/>
          </a:xfrm>
          <a:prstGeom prst="rect">
            <a:avLst/>
          </a:prstGeom>
          <a:noFill/>
        </p:spPr>
        <p:txBody>
          <a:bodyPr wrap="square">
            <a:spAutoFit/>
          </a:bodyPr>
          <a:lstStyle/>
          <a:p>
            <a:pPr algn="ctr"/>
            <a:r>
              <a:rPr sz="1400" b="0" i="1">
                <a:solidFill>
                  <a:srgbClr val="B0C8E8"/>
                </a:solidFill>
              </a:rPr>
              <a:t>push / pop / decrease_key</a:t>
            </a:r>
          </a:p>
        </p:txBody>
      </p:sp>
      <p:sp>
        <p:nvSpPr>
          <p:cNvPr id="10" name="TextBox 9"/>
          <p:cNvSpPr txBox="1"/>
          <p:nvPr/>
        </p:nvSpPr>
        <p:spPr>
          <a:xfrm>
            <a:off x="502920" y="2834640"/>
            <a:ext cx="3200400" cy="1280160"/>
          </a:xfrm>
          <a:prstGeom prst="rect">
            <a:avLst/>
          </a:prstGeom>
          <a:noFill/>
        </p:spPr>
        <p:txBody>
          <a:bodyPr wrap="square">
            <a:spAutoFit/>
          </a:bodyPr>
          <a:lstStyle/>
          <a:p>
            <a:pPr algn="ctr"/>
            <a:r>
              <a:rPr sz="1500" b="0" i="0">
                <a:solidFill>
                  <a:srgbClr val="E86B2C"/>
                </a:solidFill>
              </a:rPr>
              <a:t>push/pop: O(log n)
decrease_key: O(log n)</a:t>
            </a:r>
          </a:p>
        </p:txBody>
      </p:sp>
      <p:sp>
        <p:nvSpPr>
          <p:cNvPr id="11" name="Rectangle 10"/>
          <p:cNvSpPr/>
          <p:nvPr/>
        </p:nvSpPr>
        <p:spPr>
          <a:xfrm>
            <a:off x="4206240" y="1188720"/>
            <a:ext cx="3474720" cy="3200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1280160"/>
            <a:ext cx="3291840" cy="822960"/>
          </a:xfrm>
          <a:prstGeom prst="rect">
            <a:avLst/>
          </a:prstGeom>
          <a:noFill/>
        </p:spPr>
        <p:txBody>
          <a:bodyPr wrap="square">
            <a:spAutoFit/>
          </a:bodyPr>
          <a:lstStyle/>
          <a:p>
            <a:pPr algn="ctr"/>
            <a:r>
              <a:rPr sz="1700" b="1" i="0">
                <a:solidFill>
                  <a:srgbClr val="FFFFFF"/>
                </a:solidFill>
              </a:rPr>
              <a:t>Road Network
(Adjacency List + Dijkstra)</a:t>
            </a:r>
          </a:p>
        </p:txBody>
      </p:sp>
      <p:sp>
        <p:nvSpPr>
          <p:cNvPr id="13" name="Rectangle 12"/>
          <p:cNvSpPr/>
          <p:nvPr/>
        </p:nvSpPr>
        <p:spPr>
          <a:xfrm>
            <a:off x="274320" y="2148840"/>
            <a:ext cx="11640312" cy="27432"/>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400" y="2240280"/>
            <a:ext cx="3200400" cy="548640"/>
          </a:xfrm>
          <a:prstGeom prst="rect">
            <a:avLst/>
          </a:prstGeom>
          <a:noFill/>
        </p:spPr>
        <p:txBody>
          <a:bodyPr wrap="square">
            <a:spAutoFit/>
          </a:bodyPr>
          <a:lstStyle/>
          <a:p>
            <a:pPr algn="ctr"/>
            <a:r>
              <a:rPr sz="1400" b="0" i="1">
                <a:solidFill>
                  <a:srgbClr val="B0C8E8"/>
                </a:solidFill>
              </a:rPr>
              <a:t>shortest_path / update_weight</a:t>
            </a:r>
          </a:p>
        </p:txBody>
      </p:sp>
      <p:sp>
        <p:nvSpPr>
          <p:cNvPr id="15" name="TextBox 14"/>
          <p:cNvSpPr txBox="1"/>
          <p:nvPr/>
        </p:nvSpPr>
        <p:spPr>
          <a:xfrm>
            <a:off x="4343400" y="2834640"/>
            <a:ext cx="3200400" cy="1280160"/>
          </a:xfrm>
          <a:prstGeom prst="rect">
            <a:avLst/>
          </a:prstGeom>
          <a:noFill/>
        </p:spPr>
        <p:txBody>
          <a:bodyPr wrap="square">
            <a:spAutoFit/>
          </a:bodyPr>
          <a:lstStyle/>
          <a:p>
            <a:pPr algn="ctr"/>
            <a:r>
              <a:rPr sz="1500" b="0" i="0">
                <a:solidFill>
                  <a:srgbClr val="E86B2C"/>
                </a:solidFill>
              </a:rPr>
              <a:t>shortest_path: O((V+E) log V)
update_weight: O(degree)</a:t>
            </a:r>
          </a:p>
        </p:txBody>
      </p:sp>
      <p:sp>
        <p:nvSpPr>
          <p:cNvPr id="16" name="Rectangle 15"/>
          <p:cNvSpPr/>
          <p:nvPr/>
        </p:nvSpPr>
        <p:spPr>
          <a:xfrm>
            <a:off x="8046720" y="1188720"/>
            <a:ext cx="3474720" cy="3200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0" y="1280160"/>
            <a:ext cx="3291840" cy="822960"/>
          </a:xfrm>
          <a:prstGeom prst="rect">
            <a:avLst/>
          </a:prstGeom>
          <a:noFill/>
        </p:spPr>
        <p:txBody>
          <a:bodyPr wrap="square">
            <a:spAutoFit/>
          </a:bodyPr>
          <a:lstStyle/>
          <a:p>
            <a:pPr algn="ctr"/>
            <a:r>
              <a:rPr sz="1700" b="1" i="0">
                <a:solidFill>
                  <a:srgbClr val="FFFFFF"/>
                </a:solidFill>
              </a:rPr>
              <a:t>Dispatch Table
(Hash Table)</a:t>
            </a:r>
          </a:p>
        </p:txBody>
      </p:sp>
      <p:sp>
        <p:nvSpPr>
          <p:cNvPr id="18" name="Rectangle 17"/>
          <p:cNvSpPr/>
          <p:nvPr/>
        </p:nvSpPr>
        <p:spPr>
          <a:xfrm>
            <a:off x="274320" y="2148840"/>
            <a:ext cx="11640312" cy="27432"/>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83880" y="2240280"/>
            <a:ext cx="3200400" cy="548640"/>
          </a:xfrm>
          <a:prstGeom prst="rect">
            <a:avLst/>
          </a:prstGeom>
          <a:noFill/>
        </p:spPr>
        <p:txBody>
          <a:bodyPr wrap="square">
            <a:spAutoFit/>
          </a:bodyPr>
          <a:lstStyle/>
          <a:p>
            <a:pPr algn="ctr"/>
            <a:r>
              <a:rPr sz="1400" b="0" i="1">
                <a:solidFill>
                  <a:srgbClr val="B0C8E8"/>
                </a:solidFill>
              </a:rPr>
              <a:t>register / get / update_status</a:t>
            </a:r>
          </a:p>
        </p:txBody>
      </p:sp>
      <p:sp>
        <p:nvSpPr>
          <p:cNvPr id="20" name="TextBox 19"/>
          <p:cNvSpPr txBox="1"/>
          <p:nvPr/>
        </p:nvSpPr>
        <p:spPr>
          <a:xfrm>
            <a:off x="8183880" y="2834640"/>
            <a:ext cx="3200400" cy="1280160"/>
          </a:xfrm>
          <a:prstGeom prst="rect">
            <a:avLst/>
          </a:prstGeom>
          <a:noFill/>
        </p:spPr>
        <p:txBody>
          <a:bodyPr wrap="square">
            <a:spAutoFit/>
          </a:bodyPr>
          <a:lstStyle/>
          <a:p>
            <a:pPr algn="ctr"/>
            <a:r>
              <a:rPr sz="1500" b="0" i="0">
                <a:solidFill>
                  <a:srgbClr val="E86B2C"/>
                </a:solidFill>
              </a:rPr>
              <a:t>all ops: O(1) avg</a:t>
            </a:r>
          </a:p>
        </p:txBody>
      </p:sp>
      <p:sp>
        <p:nvSpPr>
          <p:cNvPr id="21" name="Rectangle 20"/>
          <p:cNvSpPr/>
          <p:nvPr/>
        </p:nvSpPr>
        <p:spPr>
          <a:xfrm>
            <a:off x="365760" y="4572000"/>
            <a:ext cx="11338560" cy="155448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63440"/>
            <a:ext cx="4114800" cy="502920"/>
          </a:xfrm>
          <a:prstGeom prst="rect">
            <a:avLst/>
          </a:prstGeom>
          <a:noFill/>
        </p:spPr>
        <p:txBody>
          <a:bodyPr wrap="square">
            <a:spAutoFit/>
          </a:bodyPr>
          <a:lstStyle/>
          <a:p>
            <a:pPr algn="l"/>
            <a:r>
              <a:rPr sz="1700" b="1" i="0">
                <a:solidFill>
                  <a:srgbClr val="FFFFFF"/>
                </a:solidFill>
              </a:rPr>
              <a:t>Phase 3 Addition: KDTree (Spatial Index)</a:t>
            </a:r>
          </a:p>
        </p:txBody>
      </p:sp>
      <p:sp>
        <p:nvSpPr>
          <p:cNvPr id="23" name="TextBox 22"/>
          <p:cNvSpPr txBox="1"/>
          <p:nvPr/>
        </p:nvSpPr>
        <p:spPr>
          <a:xfrm>
            <a:off x="548640" y="5166360"/>
            <a:ext cx="10789920" cy="731520"/>
          </a:xfrm>
          <a:prstGeom prst="rect">
            <a:avLst/>
          </a:prstGeom>
          <a:noFill/>
        </p:spPr>
        <p:txBody>
          <a:bodyPr wrap="square">
            <a:spAutoFit/>
          </a:bodyPr>
          <a:lstStyle/>
          <a:p>
            <a:pPr algn="l"/>
            <a:r>
              <a:rPr sz="1400" b="0" i="0">
                <a:solidFill>
                  <a:srgbClr val="CCDDFF"/>
                </a:solidFill>
              </a:rPr>
              <a:t>Indexes available unit positions by (x, y) coordinates  |  k-NN query: O(log n) avg  |  build: O(n log n)  |  Replaces O(n x Dijkstra) with O(log n query + k Dijkstras), k=3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9144000" cy="594360"/>
          </a:xfrm>
          <a:prstGeom prst="rect">
            <a:avLst/>
          </a:prstGeom>
          <a:noFill/>
        </p:spPr>
        <p:txBody>
          <a:bodyPr wrap="square">
            <a:spAutoFit/>
          </a:bodyPr>
          <a:lstStyle/>
          <a:p>
            <a:pPr algn="l"/>
            <a:r>
              <a:rPr sz="2600" b="1" i="0">
                <a:solidFill>
                  <a:srgbClr val="FFFFFF"/>
                </a:solidFill>
              </a:rPr>
              <a:t>Phase 1: Design and Initial Implementation</a:t>
            </a:r>
          </a:p>
        </p:txBody>
      </p:sp>
      <p:sp>
        <p:nvSpPr>
          <p:cNvPr id="5" name="TextBox 4"/>
          <p:cNvSpPr txBox="1"/>
          <p:nvPr/>
        </p:nvSpPr>
        <p:spPr>
          <a:xfrm>
            <a:off x="457200" y="1234440"/>
            <a:ext cx="7132320" cy="5029200"/>
          </a:xfrm>
          <a:prstGeom prst="rect">
            <a:avLst/>
          </a:prstGeom>
          <a:noFill/>
        </p:spPr>
        <p:txBody>
          <a:bodyPr wrap="square">
            <a:spAutoFit/>
          </a:bodyPr>
          <a:lstStyle/>
          <a:p>
            <a:pPr>
              <a:spcBef>
                <a:spcPts val="400"/>
              </a:spcBef>
            </a:pPr>
            <a:r>
              <a:rPr sz="1600">
                <a:solidFill>
                  <a:srgbClr val="1C1C1C"/>
                </a:solidFill>
              </a:rPr>
              <a:t>Chose emergency response dispatch as the application domain</a:t>
            </a:r>
          </a:p>
          <a:p>
            <a:pPr>
              <a:spcBef>
                <a:spcPts val="400"/>
              </a:spcBef>
            </a:pPr>
            <a:r>
              <a:rPr sz="1600">
                <a:solidFill>
                  <a:srgbClr val="1C1C1C"/>
                </a:solidFill>
              </a:rPr>
              <a:t/>
            </a:r>
          </a:p>
          <a:p>
            <a:pPr>
              <a:spcBef>
                <a:spcPts val="400"/>
              </a:spcBef>
            </a:pPr>
            <a:r>
              <a:rPr sz="1600">
                <a:solidFill>
                  <a:srgbClr val="1C1C1C"/>
                </a:solidFill>
              </a:rPr>
              <a:t>Three data structures selected:</a:t>
            </a:r>
          </a:p>
          <a:p>
            <a:pPr>
              <a:spcBef>
                <a:spcPts val="400"/>
              </a:spcBef>
            </a:pPr>
            <a:r>
              <a:rPr sz="1600">
                <a:solidFill>
                  <a:srgbClr val="1C1C1C"/>
                </a:solidFill>
              </a:rPr>
              <a:t>  Min-heap (CallQueue) - O(log n) push/pop, O(1) peek</a:t>
            </a:r>
          </a:p>
          <a:p>
            <a:pPr>
              <a:spcBef>
                <a:spcPts val="400"/>
              </a:spcBef>
            </a:pPr>
            <a:r>
              <a:rPr sz="1600">
                <a:solidFill>
                  <a:srgbClr val="1C1C1C"/>
                </a:solidFill>
              </a:rPr>
              <a:t>  Adjacency list graph (RoadNetwork) - O(V+E) space, Dijkstra for routing</a:t>
            </a:r>
          </a:p>
          <a:p>
            <a:pPr>
              <a:spcBef>
                <a:spcPts val="400"/>
              </a:spcBef>
            </a:pPr>
            <a:r>
              <a:rPr sz="1600">
                <a:solidFill>
                  <a:srgbClr val="1C1C1C"/>
                </a:solidFill>
              </a:rPr>
              <a:t>  Hash table (DispatchTable) - O(1) avg lookup/insert/update</a:t>
            </a:r>
          </a:p>
          <a:p>
            <a:pPr>
              <a:spcBef>
                <a:spcPts val="400"/>
              </a:spcBef>
            </a:pPr>
            <a:r>
              <a:rPr sz="1600">
                <a:solidFill>
                  <a:srgbClr val="1C1C1C"/>
                </a:solidFill>
              </a:rPr>
              <a:t/>
            </a:r>
          </a:p>
          <a:p>
            <a:pPr>
              <a:spcBef>
                <a:spcPts val="400"/>
              </a:spcBef>
            </a:pPr>
            <a:r>
              <a:rPr sz="1600">
                <a:solidFill>
                  <a:srgbClr val="1C1C1C"/>
                </a:solidFill>
              </a:rPr>
              <a:t>Implemented basic classes + demonstration script</a:t>
            </a:r>
          </a:p>
          <a:p>
            <a:pPr>
              <a:spcBef>
                <a:spcPts val="400"/>
              </a:spcBef>
            </a:pPr>
            <a:r>
              <a:rPr sz="1600">
                <a:solidFill>
                  <a:srgbClr val="1C1C1C"/>
                </a:solidFill>
              </a:rPr>
              <a:t>Confirmed: correct priority ordering, correct Dijkstra routes</a:t>
            </a:r>
          </a:p>
          <a:p>
            <a:pPr>
              <a:spcBef>
                <a:spcPts val="400"/>
              </a:spcBef>
            </a:pPr>
            <a:r>
              <a:rPr sz="1600">
                <a:solidFill>
                  <a:srgbClr val="1C1C1C"/>
                </a:solidFill>
              </a:rPr>
              <a:t/>
            </a:r>
          </a:p>
          <a:p>
            <a:pPr>
              <a:spcBef>
                <a:spcPts val="400"/>
              </a:spcBef>
            </a:pPr>
            <a:r>
              <a:rPr sz="1600">
                <a:solidFill>
                  <a:srgbClr val="1C1C1C"/>
                </a:solidFill>
              </a:rPr>
              <a:t>Identified 3 limitations to address in Phases 2 &amp; 3:</a:t>
            </a:r>
          </a:p>
          <a:p>
            <a:pPr>
              <a:spcBef>
                <a:spcPts val="400"/>
              </a:spcBef>
            </a:pPr>
            <a:r>
              <a:rPr sz="1600">
                <a:solidFill>
                  <a:srgbClr val="1C1C1C"/>
                </a:solidFill>
              </a:rPr>
              <a:t>  1. No decrease-key for re-triage</a:t>
            </a:r>
          </a:p>
          <a:p>
            <a:pPr>
              <a:spcBef>
                <a:spcPts val="400"/>
              </a:spcBef>
            </a:pPr>
            <a:r>
              <a:rPr sz="1600">
                <a:solidFill>
                  <a:srgbClr val="1C1C1C"/>
                </a:solidFill>
              </a:rPr>
              <a:t>  2. Static edge weights</a:t>
            </a:r>
          </a:p>
          <a:p>
            <a:pPr>
              <a:spcBef>
                <a:spcPts val="400"/>
              </a:spcBef>
            </a:pPr>
            <a:r>
              <a:rPr sz="1600">
                <a:solidFill>
                  <a:srgbClr val="1C1C1C"/>
                </a:solidFill>
              </a:rPr>
              <a:t>  3. O(n x Dijkstra) nearest-unit lookup</a:t>
            </a:r>
          </a:p>
        </p:txBody>
      </p:sp>
      <p:sp>
        <p:nvSpPr>
          <p:cNvPr id="6" name="Rectangle 5"/>
          <p:cNvSpPr/>
          <p:nvPr/>
        </p:nvSpPr>
        <p:spPr>
          <a:xfrm>
            <a:off x="7863840" y="1234440"/>
            <a:ext cx="3931920" cy="49377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79" y="1325880"/>
            <a:ext cx="3749039" cy="365760"/>
          </a:xfrm>
          <a:prstGeom prst="rect">
            <a:avLst/>
          </a:prstGeom>
          <a:noFill/>
        </p:spPr>
        <p:txBody>
          <a:bodyPr wrap="square">
            <a:spAutoFit/>
          </a:bodyPr>
          <a:lstStyle/>
          <a:p>
            <a:pPr algn="l"/>
            <a:r>
              <a:rPr sz="1300" b="1" i="0">
                <a:solidFill>
                  <a:srgbClr val="FFFFFF"/>
                </a:solidFill>
              </a:rPr>
              <a:t>Dijkstra pseudocode</a:t>
            </a:r>
          </a:p>
        </p:txBody>
      </p:sp>
      <p:sp>
        <p:nvSpPr>
          <p:cNvPr id="8" name="TextBox 7"/>
          <p:cNvSpPr txBox="1"/>
          <p:nvPr/>
        </p:nvSpPr>
        <p:spPr>
          <a:xfrm>
            <a:off x="7955279" y="1737360"/>
            <a:ext cx="3749039" cy="4114800"/>
          </a:xfrm>
          <a:prstGeom prst="rect">
            <a:avLst/>
          </a:prstGeom>
          <a:noFill/>
        </p:spPr>
        <p:txBody>
          <a:bodyPr wrap="square">
            <a:spAutoFit/>
          </a:bodyPr>
          <a:lstStyle/>
          <a:p>
            <a:pPr algn="l"/>
            <a:r>
              <a:rPr sz="1300" b="0" i="0">
                <a:solidFill>
                  <a:srgbClr val="B0E8B0"/>
                </a:solidFill>
              </a:rPr>
              <a:t>dist[src] = 0; heap = [(0, src)]
while heap:
  d, u = heappop(heap)
  if d &gt; dist[u]: skip
  if u == dst: break
  for v, w in adj[u]:
    alt = dist[u] + w
    if alt &lt; dist[v]:
      dist[v] = alt
      prev[v] = u
      heappush(heap,(alt,v))
walk prev[] -&gt; path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9144000" cy="594360"/>
          </a:xfrm>
          <a:prstGeom prst="rect">
            <a:avLst/>
          </a:prstGeom>
          <a:noFill/>
        </p:spPr>
        <p:txBody>
          <a:bodyPr wrap="square">
            <a:spAutoFit/>
          </a:bodyPr>
          <a:lstStyle/>
          <a:p>
            <a:pPr algn="l"/>
            <a:r>
              <a:rPr sz="2600" b="1" i="0">
                <a:solidFill>
                  <a:srgbClr val="FFFFFF"/>
                </a:solidFill>
              </a:rPr>
              <a:t>Phase 2: Proof of Concept</a:t>
            </a:r>
          </a:p>
        </p:txBody>
      </p:sp>
      <p:sp>
        <p:nvSpPr>
          <p:cNvPr id="5" name="TextBox 4"/>
          <p:cNvSpPr txBox="1"/>
          <p:nvPr/>
        </p:nvSpPr>
        <p:spPr>
          <a:xfrm>
            <a:off x="274320" y="685800"/>
            <a:ext cx="9144000" cy="320040"/>
          </a:xfrm>
          <a:prstGeom prst="rect">
            <a:avLst/>
          </a:prstGeom>
          <a:noFill/>
        </p:spPr>
        <p:txBody>
          <a:bodyPr wrap="square">
            <a:spAutoFit/>
          </a:bodyPr>
          <a:lstStyle/>
          <a:p>
            <a:pPr algn="l"/>
            <a:r>
              <a:rPr sz="1400" b="0" i="1">
                <a:solidFill>
                  <a:srgbClr val="B0C8E8"/>
                </a:solidFill>
              </a:rPr>
              <a:t>Key challenge: adding decrease_key to the call queue</a:t>
            </a:r>
          </a:p>
        </p:txBody>
      </p:sp>
      <p:sp>
        <p:nvSpPr>
          <p:cNvPr id="6" name="TextBox 5"/>
          <p:cNvSpPr txBox="1"/>
          <p:nvPr/>
        </p:nvSpPr>
        <p:spPr>
          <a:xfrm>
            <a:off x="457200" y="1234440"/>
            <a:ext cx="5669280" cy="2011680"/>
          </a:xfrm>
          <a:prstGeom prst="rect">
            <a:avLst/>
          </a:prstGeom>
          <a:noFill/>
        </p:spPr>
        <p:txBody>
          <a:bodyPr wrap="square">
            <a:spAutoFit/>
          </a:bodyPr>
          <a:lstStyle/>
          <a:p>
            <a:pPr>
              <a:spcBef>
                <a:spcPts val="400"/>
              </a:spcBef>
            </a:pPr>
            <a:r>
              <a:rPr sz="1600">
                <a:solidFill>
                  <a:srgbClr val="1C1C1C"/>
                </a:solidFill>
              </a:rPr>
              <a:t>Problem: Python's heapq has no decrease_key</a:t>
            </a:r>
          </a:p>
          <a:p>
            <a:pPr>
              <a:spcBef>
                <a:spcPts val="400"/>
              </a:spcBef>
            </a:pPr>
            <a:r>
              <a:rPr sz="1600">
                <a:solidFill>
                  <a:srgbClr val="1C1C1C"/>
                </a:solidFill>
              </a:rPr>
              <a:t>  - Lazy deletion workaround rejected: re-triaged call still</a:t>
            </a:r>
          </a:p>
          <a:p>
            <a:pPr>
              <a:spcBef>
                <a:spcPts val="400"/>
              </a:spcBef>
            </a:pPr>
            <a:r>
              <a:rPr sz="1600">
                <a:solidFill>
                  <a:srgbClr val="1C1C1C"/>
                </a:solidFill>
              </a:rPr>
              <a:t>    waits behind stale heap entries</a:t>
            </a:r>
          </a:p>
          <a:p>
            <a:pPr>
              <a:spcBef>
                <a:spcPts val="400"/>
              </a:spcBef>
            </a:pPr>
            <a:r>
              <a:rPr sz="1600">
                <a:solidFill>
                  <a:srgbClr val="1C1C1C"/>
                </a:solidFill>
              </a:rPr>
              <a:t>  - Fibonacci heap: O(1) amortized but too complex</a:t>
            </a:r>
          </a:p>
        </p:txBody>
      </p:sp>
      <p:sp>
        <p:nvSpPr>
          <p:cNvPr id="7" name="TextBox 6"/>
          <p:cNvSpPr txBox="1"/>
          <p:nvPr/>
        </p:nvSpPr>
        <p:spPr>
          <a:xfrm>
            <a:off x="457200" y="3291840"/>
            <a:ext cx="5669280" cy="2560320"/>
          </a:xfrm>
          <a:prstGeom prst="rect">
            <a:avLst/>
          </a:prstGeom>
          <a:noFill/>
        </p:spPr>
        <p:txBody>
          <a:bodyPr wrap="square">
            <a:spAutoFit/>
          </a:bodyPr>
          <a:lstStyle/>
          <a:p>
            <a:pPr>
              <a:spcBef>
                <a:spcPts val="400"/>
              </a:spcBef>
            </a:pPr>
            <a:r>
              <a:rPr sz="1600">
                <a:solidFill>
                  <a:srgbClr val="1C1C1C"/>
                </a:solidFill>
              </a:rPr>
              <a:t>Solution: custom binary heap + index_map</a:t>
            </a:r>
          </a:p>
          <a:p>
            <a:pPr>
              <a:spcBef>
                <a:spcPts val="400"/>
              </a:spcBef>
            </a:pPr>
            <a:r>
              <a:rPr sz="1600">
                <a:solidFill>
                  <a:srgbClr val="1C1C1C"/>
                </a:solidFill>
              </a:rPr>
              <a:t>  - index_map[call_id] = current array position</a:t>
            </a:r>
          </a:p>
          <a:p>
            <a:pPr>
              <a:spcBef>
                <a:spcPts val="400"/>
              </a:spcBef>
            </a:pPr>
            <a:r>
              <a:rPr sz="1600">
                <a:solidFill>
                  <a:srgbClr val="1C1C1C"/>
                </a:solidFill>
              </a:rPr>
              <a:t>  - _swap() keeps map consistent on every sift</a:t>
            </a:r>
          </a:p>
          <a:p>
            <a:pPr>
              <a:spcBef>
                <a:spcPts val="400"/>
              </a:spcBef>
            </a:pPr>
            <a:r>
              <a:rPr sz="1600">
                <a:solidFill>
                  <a:srgbClr val="1C1C1C"/>
                </a:solidFill>
              </a:rPr>
              <a:t>  - decrease_key: O(1) lookup + O(log n) sift_up</a:t>
            </a:r>
          </a:p>
          <a:p>
            <a:pPr>
              <a:spcBef>
                <a:spcPts val="400"/>
              </a:spcBef>
            </a:pPr>
            <a:r>
              <a:rPr sz="1600">
                <a:solidFill>
                  <a:srgbClr val="1C1C1C"/>
                </a:solidFill>
              </a:rPr>
              <a:t>  - Cost: ~2x memory (heap + map)</a:t>
            </a:r>
          </a:p>
        </p:txBody>
      </p:sp>
      <p:sp>
        <p:nvSpPr>
          <p:cNvPr id="8" name="Rectangle 7"/>
          <p:cNvSpPr/>
          <p:nvPr/>
        </p:nvSpPr>
        <p:spPr>
          <a:xfrm>
            <a:off x="6400800" y="1234440"/>
            <a:ext cx="5394960" cy="50292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325880"/>
            <a:ext cx="5212080" cy="365760"/>
          </a:xfrm>
          <a:prstGeom prst="rect">
            <a:avLst/>
          </a:prstGeom>
          <a:noFill/>
        </p:spPr>
        <p:txBody>
          <a:bodyPr wrap="square">
            <a:spAutoFit/>
          </a:bodyPr>
          <a:lstStyle/>
          <a:p>
            <a:pPr algn="l"/>
            <a:r>
              <a:rPr sz="1300" b="1" i="0">
                <a:solidFill>
                  <a:srgbClr val="FFFFFF"/>
                </a:solidFill>
              </a:rPr>
              <a:t>Implementation</a:t>
            </a:r>
          </a:p>
        </p:txBody>
      </p:sp>
      <p:sp>
        <p:nvSpPr>
          <p:cNvPr id="10" name="TextBox 9"/>
          <p:cNvSpPr txBox="1"/>
          <p:nvPr/>
        </p:nvSpPr>
        <p:spPr>
          <a:xfrm>
            <a:off x="6492240" y="1737360"/>
            <a:ext cx="5212080" cy="4572000"/>
          </a:xfrm>
          <a:prstGeom prst="rect">
            <a:avLst/>
          </a:prstGeom>
          <a:noFill/>
        </p:spPr>
        <p:txBody>
          <a:bodyPr wrap="square">
            <a:spAutoFit/>
          </a:bodyPr>
          <a:lstStyle/>
          <a:p>
            <a:pPr algn="l"/>
            <a:r>
              <a:rPr sz="1300" b="0" i="0">
                <a:solidFill>
                  <a:srgbClr val="B0E8B0"/>
                </a:solidFill>
              </a:rPr>
              <a:t>def decrease_key(self, call_id, new_pri):
    idx = self._index_map[call_id]  # O(1)
    self._heap[idx].priority = new_pri
    self._sift_up(idx)              # O(log n)
def _swap(self, i, j):
    # keep index_map consistent
    self._index_map[
        self._heap[i].call_id] = j
    self._index_map[
        self._heap[j].call_id] = i
    self._heap[i], self._heap[j] = \
        self._heap[j], self._heap[i]
# Test: re-triage D002 priority 3-&gt;1
# Pop order: D002(1), D003(2), D001(2) OK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9144000" cy="594360"/>
          </a:xfrm>
          <a:prstGeom prst="rect">
            <a:avLst/>
          </a:prstGeom>
          <a:noFill/>
        </p:spPr>
        <p:txBody>
          <a:bodyPr wrap="square">
            <a:spAutoFit/>
          </a:bodyPr>
          <a:lstStyle/>
          <a:p>
            <a:pPr algn="l"/>
            <a:r>
              <a:rPr sz="2600" b="1" i="0">
                <a:solidFill>
                  <a:srgbClr val="FFFFFF"/>
                </a:solidFill>
              </a:rPr>
              <a:t>Phase 2: Test Results</a:t>
            </a:r>
          </a:p>
        </p:txBody>
      </p:sp>
      <p:sp>
        <p:nvSpPr>
          <p:cNvPr id="5" name="TextBox 4"/>
          <p:cNvSpPr txBox="1"/>
          <p:nvPr/>
        </p:nvSpPr>
        <p:spPr>
          <a:xfrm>
            <a:off x="274320" y="685800"/>
            <a:ext cx="9144000" cy="320040"/>
          </a:xfrm>
          <a:prstGeom prst="rect">
            <a:avLst/>
          </a:prstGeom>
          <a:noFill/>
        </p:spPr>
        <p:txBody>
          <a:bodyPr wrap="square">
            <a:spAutoFit/>
          </a:bodyPr>
          <a:lstStyle/>
          <a:p>
            <a:pPr algn="l"/>
            <a:r>
              <a:rPr sz="1400" b="0" i="1">
                <a:solidFill>
                  <a:srgbClr val="B0C8E8"/>
                </a:solidFill>
              </a:rPr>
              <a:t>8 tests covering correctness and edge cases</a:t>
            </a:r>
          </a:p>
        </p:txBody>
      </p:sp>
      <p:sp>
        <p:nvSpPr>
          <p:cNvPr id="6" name="TextBox 5"/>
          <p:cNvSpPr txBox="1"/>
          <p:nvPr/>
        </p:nvSpPr>
        <p:spPr>
          <a:xfrm>
            <a:off x="457200" y="1234440"/>
            <a:ext cx="5669280" cy="5303520"/>
          </a:xfrm>
          <a:prstGeom prst="rect">
            <a:avLst/>
          </a:prstGeom>
          <a:noFill/>
        </p:spPr>
        <p:txBody>
          <a:bodyPr wrap="square">
            <a:spAutoFit/>
          </a:bodyPr>
          <a:lstStyle/>
          <a:p>
            <a:pPr>
              <a:spcBef>
                <a:spcPts val="400"/>
              </a:spcBef>
            </a:pPr>
            <a:r>
              <a:rPr sz="1500">
                <a:solidFill>
                  <a:srgbClr val="1C1C1C"/>
                </a:solidFill>
              </a:rPr>
              <a:t>Test 1 - push/pop order</a:t>
            </a:r>
          </a:p>
          <a:p>
            <a:pPr>
              <a:spcBef>
                <a:spcPts val="400"/>
              </a:spcBef>
            </a:pPr>
            <a:r>
              <a:rPr sz="1500">
                <a:solidFill>
                  <a:srgbClr val="1C1C1C"/>
                </a:solidFill>
              </a:rPr>
              <a:t>  Priorities 3,1,2 -&gt; popped in order 1,2,3  OK</a:t>
            </a:r>
          </a:p>
          <a:p>
            <a:pPr>
              <a:spcBef>
                <a:spcPts val="400"/>
              </a:spcBef>
            </a:pPr>
            <a:r>
              <a:rPr sz="1500">
                <a:solidFill>
                  <a:srgbClr val="1C1C1C"/>
                </a:solidFill>
              </a:rPr>
              <a:t/>
            </a:r>
          </a:p>
          <a:p>
            <a:pPr>
              <a:spcBef>
                <a:spcPts val="400"/>
              </a:spcBef>
            </a:pPr>
            <a:r>
              <a:rPr sz="1500">
                <a:solidFill>
                  <a:srgbClr val="1C1C1C"/>
                </a:solidFill>
              </a:rPr>
              <a:t>Test 2 - decrease_key</a:t>
            </a:r>
          </a:p>
          <a:p>
            <a:pPr>
              <a:spcBef>
                <a:spcPts val="400"/>
              </a:spcBef>
            </a:pPr>
            <a:r>
              <a:rPr sz="1500">
                <a:solidFill>
                  <a:srgbClr val="1C1C1C"/>
                </a:solidFill>
              </a:rPr>
              <a:t>  Re-triage D002: 3-&gt;1, becomes queue head  OK</a:t>
            </a:r>
          </a:p>
          <a:p>
            <a:pPr>
              <a:spcBef>
                <a:spcPts val="400"/>
              </a:spcBef>
            </a:pPr>
            <a:r>
              <a:rPr sz="1500">
                <a:solidFill>
                  <a:srgbClr val="1C1C1C"/>
                </a:solidFill>
              </a:rPr>
              <a:t/>
            </a:r>
          </a:p>
          <a:p>
            <a:pPr>
              <a:spcBef>
                <a:spcPts val="400"/>
              </a:spcBef>
            </a:pPr>
            <a:r>
              <a:rPr sz="1500">
                <a:solidFill>
                  <a:srgbClr val="1C1C1C"/>
                </a:solidFill>
              </a:rPr>
              <a:t>Test 3 - Dijkstra routes (4 pairs)</a:t>
            </a:r>
          </a:p>
          <a:p>
            <a:pPr>
              <a:spcBef>
                <a:spcPts val="400"/>
              </a:spcBef>
            </a:pPr>
            <a:r>
              <a:rPr sz="1500">
                <a:solidFill>
                  <a:srgbClr val="1C1C1C"/>
                </a:solidFill>
              </a:rPr>
              <a:t>  HQ-&gt;Downtown: 9min via Station_A-&gt;Midtown  OK</a:t>
            </a:r>
          </a:p>
          <a:p>
            <a:pPr>
              <a:spcBef>
                <a:spcPts val="400"/>
              </a:spcBef>
            </a:pPr>
            <a:r>
              <a:rPr sz="1500">
                <a:solidFill>
                  <a:srgbClr val="1C1C1C"/>
                </a:solidFill>
              </a:rPr>
              <a:t>  All 4 matched manually computed paths  OK</a:t>
            </a:r>
          </a:p>
          <a:p>
            <a:pPr>
              <a:spcBef>
                <a:spcPts val="400"/>
              </a:spcBef>
            </a:pPr>
            <a:r>
              <a:rPr sz="1500">
                <a:solidFill>
                  <a:srgbClr val="1C1C1C"/>
                </a:solidFill>
              </a:rPr>
              <a:t/>
            </a:r>
          </a:p>
          <a:p>
            <a:pPr>
              <a:spcBef>
                <a:spcPts val="400"/>
              </a:spcBef>
            </a:pPr>
            <a:r>
              <a:rPr sz="1500">
                <a:solidFill>
                  <a:srgbClr val="1C1C1C"/>
                </a:solidFill>
              </a:rPr>
              <a:t>Test 4 - DispatchTable</a:t>
            </a:r>
          </a:p>
          <a:p>
            <a:pPr>
              <a:spcBef>
                <a:spcPts val="400"/>
              </a:spcBef>
            </a:pPr>
            <a:r>
              <a:rPr sz="1500">
                <a:solidFill>
                  <a:srgbClr val="1C1C1C"/>
                </a:solidFill>
              </a:rPr>
              <a:t>  Register/dispatch/return all correct  OK</a:t>
            </a:r>
          </a:p>
        </p:txBody>
      </p:sp>
      <p:sp>
        <p:nvSpPr>
          <p:cNvPr id="7" name="TextBox 6"/>
          <p:cNvSpPr txBox="1"/>
          <p:nvPr/>
        </p:nvSpPr>
        <p:spPr>
          <a:xfrm>
            <a:off x="6309360" y="1234440"/>
            <a:ext cx="5486400" cy="5303520"/>
          </a:xfrm>
          <a:prstGeom prst="rect">
            <a:avLst/>
          </a:prstGeom>
          <a:noFill/>
        </p:spPr>
        <p:txBody>
          <a:bodyPr wrap="square">
            <a:spAutoFit/>
          </a:bodyPr>
          <a:lstStyle/>
          <a:p>
            <a:pPr>
              <a:spcBef>
                <a:spcPts val="400"/>
              </a:spcBef>
            </a:pPr>
            <a:r>
              <a:rPr sz="1500">
                <a:solidFill>
                  <a:srgbClr val="1C1C1C"/>
                </a:solidFill>
              </a:rPr>
              <a:t>Test 5 - end-to-end dispatch</a:t>
            </a:r>
          </a:p>
          <a:p>
            <a:pPr>
              <a:spcBef>
                <a:spcPts val="400"/>
              </a:spcBef>
            </a:pPr>
            <a:r>
              <a:rPr sz="1500">
                <a:solidFill>
                  <a:srgbClr val="1C1C1C"/>
                </a:solidFill>
              </a:rPr>
              <a:t>  3 calls received out of order:</a:t>
            </a:r>
          </a:p>
          <a:p>
            <a:pPr>
              <a:spcBef>
                <a:spcPts val="400"/>
              </a:spcBef>
            </a:pPr>
            <a:r>
              <a:rPr sz="1500">
                <a:solidFill>
                  <a:srgbClr val="1C1C1C"/>
                </a:solidFill>
              </a:rPr>
              <a:t>  E003 critical -&gt; dispatched first  OK</a:t>
            </a:r>
          </a:p>
          <a:p>
            <a:pPr>
              <a:spcBef>
                <a:spcPts val="400"/>
              </a:spcBef>
            </a:pPr>
            <a:r>
              <a:rPr sz="1500">
                <a:solidFill>
                  <a:srgbClr val="1C1C1C"/>
                </a:solidFill>
              </a:rPr>
              <a:t>  E002 urgent   -&gt; dispatched second  OK</a:t>
            </a:r>
          </a:p>
          <a:p>
            <a:pPr>
              <a:spcBef>
                <a:spcPts val="400"/>
              </a:spcBef>
            </a:pPr>
            <a:r>
              <a:rPr sz="1500">
                <a:solidFill>
                  <a:srgbClr val="1C1C1C"/>
                </a:solidFill>
              </a:rPr>
              <a:t>  E001 standard -&gt; dispatched last  OK</a:t>
            </a:r>
          </a:p>
          <a:p>
            <a:pPr>
              <a:spcBef>
                <a:spcPts val="400"/>
              </a:spcBef>
            </a:pPr>
            <a:r>
              <a:rPr sz="1500">
                <a:solidFill>
                  <a:srgbClr val="1C1C1C"/>
                </a:solidFill>
              </a:rPr>
              <a:t/>
            </a:r>
          </a:p>
          <a:p>
            <a:pPr>
              <a:spcBef>
                <a:spcPts val="400"/>
              </a:spcBef>
            </a:pPr>
            <a:r>
              <a:rPr sz="1500">
                <a:solidFill>
                  <a:srgbClr val="1C1C1C"/>
                </a:solidFill>
              </a:rPr>
              <a:t>Test 6 - retriage mid-queue  OK</a:t>
            </a:r>
          </a:p>
          <a:p>
            <a:pPr>
              <a:spcBef>
                <a:spcPts val="400"/>
              </a:spcBef>
            </a:pPr>
            <a:r>
              <a:rPr sz="1500">
                <a:solidFill>
                  <a:srgbClr val="1C1C1C"/>
                </a:solidFill>
              </a:rPr>
              <a:t>Test 7 - no units -&gt; logs gracefully  OK</a:t>
            </a:r>
          </a:p>
          <a:p>
            <a:pPr>
              <a:spcBef>
                <a:spcPts val="400"/>
              </a:spcBef>
            </a:pPr>
            <a:r>
              <a:rPr sz="1500">
                <a:solidFill>
                  <a:srgbClr val="1C1C1C"/>
                </a:solidFill>
              </a:rPr>
              <a:t>Test 8 - same-priority ties</a:t>
            </a:r>
          </a:p>
          <a:p>
            <a:pPr>
              <a:spcBef>
                <a:spcPts val="400"/>
              </a:spcBef>
            </a:pPr>
            <a:r>
              <a:rPr sz="1500">
                <a:solidFill>
                  <a:srgbClr val="1C1C1C"/>
                </a:solidFill>
              </a:rPr>
              <a:t>  Arrival order not preserved (known limitation)</a:t>
            </a:r>
          </a:p>
          <a:p>
            <a:pPr>
              <a:spcBef>
                <a:spcPts val="400"/>
              </a:spcBef>
            </a:pPr>
            <a:r>
              <a:rPr sz="1500">
                <a:solidFill>
                  <a:srgbClr val="1C1C1C"/>
                </a:solidFill>
              </a:rPr>
              <a:t>  Fix: sequence-number tiebreaker (deferred)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9144000" cy="594360"/>
          </a:xfrm>
          <a:prstGeom prst="rect">
            <a:avLst/>
          </a:prstGeom>
          <a:noFill/>
        </p:spPr>
        <p:txBody>
          <a:bodyPr wrap="square">
            <a:spAutoFit/>
          </a:bodyPr>
          <a:lstStyle/>
          <a:p>
            <a:pPr algn="l"/>
            <a:r>
              <a:rPr sz="2600" b="1" i="0">
                <a:solidFill>
                  <a:srgbClr val="FFFFFF"/>
                </a:solidFill>
              </a:rPr>
              <a:t>Phase 3: K-D Tree Spatial Index</a:t>
            </a:r>
          </a:p>
        </p:txBody>
      </p:sp>
      <p:sp>
        <p:nvSpPr>
          <p:cNvPr id="5" name="TextBox 4"/>
          <p:cNvSpPr txBox="1"/>
          <p:nvPr/>
        </p:nvSpPr>
        <p:spPr>
          <a:xfrm>
            <a:off x="274320" y="685800"/>
            <a:ext cx="9144000" cy="320040"/>
          </a:xfrm>
          <a:prstGeom prst="rect">
            <a:avLst/>
          </a:prstGeom>
          <a:noFill/>
        </p:spPr>
        <p:txBody>
          <a:bodyPr wrap="square">
            <a:spAutoFit/>
          </a:bodyPr>
          <a:lstStyle/>
          <a:p>
            <a:pPr algn="l"/>
            <a:r>
              <a:rPr sz="1400" b="0" i="1">
                <a:solidFill>
                  <a:srgbClr val="B0C8E8"/>
                </a:solidFill>
              </a:rPr>
              <a:t>From O(n x Dijkstra) to O(log n + k Dijkstras)</a:t>
            </a:r>
          </a:p>
        </p:txBody>
      </p:sp>
      <p:sp>
        <p:nvSpPr>
          <p:cNvPr id="6" name="TextBox 5"/>
          <p:cNvSpPr txBox="1"/>
          <p:nvPr/>
        </p:nvSpPr>
        <p:spPr>
          <a:xfrm>
            <a:off x="457200" y="1234440"/>
            <a:ext cx="6858000" cy="3200400"/>
          </a:xfrm>
          <a:prstGeom prst="rect">
            <a:avLst/>
          </a:prstGeom>
          <a:noFill/>
        </p:spPr>
        <p:txBody>
          <a:bodyPr wrap="square">
            <a:spAutoFit/>
          </a:bodyPr>
          <a:lstStyle/>
          <a:p>
            <a:pPr>
              <a:spcBef>
                <a:spcPts val="400"/>
              </a:spcBef>
            </a:pPr>
            <a:r>
              <a:rPr sz="1500">
                <a:solidFill>
                  <a:srgbClr val="1C1C1C"/>
                </a:solidFill>
              </a:rPr>
              <a:t>Phase 2 bottleneck: one Dijkstra per available unit</a:t>
            </a:r>
          </a:p>
          <a:p>
            <a:pPr>
              <a:spcBef>
                <a:spcPts val="400"/>
              </a:spcBef>
            </a:pPr>
            <a:r>
              <a:rPr sz="1500">
                <a:solidFill>
                  <a:srgbClr val="1C1C1C"/>
                </a:solidFill>
              </a:rPr>
              <a:t>  -&gt; O(n x (V+E) log V) per dispatch  (~29ms at n=200)</a:t>
            </a:r>
          </a:p>
          <a:p>
            <a:pPr>
              <a:spcBef>
                <a:spcPts val="400"/>
              </a:spcBef>
            </a:pPr>
            <a:r>
              <a:rPr sz="1500">
                <a:solidFill>
                  <a:srgbClr val="1C1C1C"/>
                </a:solidFill>
              </a:rPr>
              <a:t/>
            </a:r>
          </a:p>
          <a:p>
            <a:pPr>
              <a:spcBef>
                <a:spcPts val="400"/>
              </a:spcBef>
            </a:pPr>
            <a:r>
              <a:rPr sz="1500">
                <a:solidFill>
                  <a:srgbClr val="1C1C1C"/>
                </a:solidFill>
              </a:rPr>
              <a:t>Phase 3 fix: 2D k-d tree over available unit positions</a:t>
            </a:r>
          </a:p>
          <a:p>
            <a:pPr>
              <a:spcBef>
                <a:spcPts val="400"/>
              </a:spcBef>
            </a:pPr>
            <a:r>
              <a:rPr sz="1500">
                <a:solidFill>
                  <a:srgbClr val="1C1C1C"/>
                </a:solidFill>
              </a:rPr>
              <a:t>  1. Query tree for k=3 Euclidean-nearest candidates  O(log n)</a:t>
            </a:r>
          </a:p>
          <a:p>
            <a:pPr>
              <a:spcBef>
                <a:spcPts val="400"/>
              </a:spcBef>
            </a:pPr>
            <a:r>
              <a:rPr sz="1500">
                <a:solidFill>
                  <a:srgbClr val="1C1C1C"/>
                </a:solidFill>
              </a:rPr>
              <a:t>  2. Run Dijkstra for those 3 only  O(k x (V+E) log V)</a:t>
            </a:r>
          </a:p>
          <a:p>
            <a:pPr>
              <a:spcBef>
                <a:spcPts val="400"/>
              </a:spcBef>
            </a:pPr>
            <a:r>
              <a:rPr sz="1500">
                <a:solidFill>
                  <a:srgbClr val="1C1C1C"/>
                </a:solidFill>
              </a:rPr>
              <a:t>  3. Assign best, rebuild tree  O(n log n)</a:t>
            </a:r>
          </a:p>
          <a:p>
            <a:pPr>
              <a:spcBef>
                <a:spcPts val="400"/>
              </a:spcBef>
            </a:pPr>
            <a:r>
              <a:rPr sz="1500">
                <a:solidFill>
                  <a:srgbClr val="1C1C1C"/>
                </a:solidFill>
              </a:rPr>
              <a:t/>
            </a:r>
          </a:p>
          <a:p>
            <a:pPr>
              <a:spcBef>
                <a:spcPts val="400"/>
              </a:spcBef>
            </a:pPr>
            <a:r>
              <a:rPr sz="1500">
                <a:solidFill>
                  <a:srgbClr val="1C1C1C"/>
                </a:solidFill>
              </a:rPr>
              <a:t>Why Euclidean as proxy for graph distance?</a:t>
            </a:r>
          </a:p>
          <a:p>
            <a:pPr>
              <a:spcBef>
                <a:spcPts val="400"/>
              </a:spcBef>
            </a:pPr>
            <a:r>
              <a:rPr sz="1500">
                <a:solidFill>
                  <a:srgbClr val="1C1C1C"/>
                </a:solidFill>
              </a:rPr>
              <a:t>  Urban networks: geographic proximity ~ routing proximity</a:t>
            </a:r>
          </a:p>
          <a:p>
            <a:pPr>
              <a:spcBef>
                <a:spcPts val="400"/>
              </a:spcBef>
            </a:pPr>
            <a:r>
              <a:rPr sz="1500">
                <a:solidFill>
                  <a:srgbClr val="1C1C1C"/>
                </a:solidFill>
              </a:rPr>
              <a:t>  k=3 guards against physical barriers (rivers, closures)</a:t>
            </a:r>
          </a:p>
          <a:p>
            <a:pPr>
              <a:spcBef>
                <a:spcPts val="400"/>
              </a:spcBef>
            </a:pPr>
            <a:r>
              <a:rPr sz="1500">
                <a:solidFill>
                  <a:srgbClr val="1C1C1C"/>
                </a:solidFill>
              </a:rPr>
              <a:t>  Validated: all 6 city locations chose same unit as brute-force</a:t>
            </a:r>
          </a:p>
        </p:txBody>
      </p:sp>
      <p:sp>
        <p:nvSpPr>
          <p:cNvPr id="7" name="Rectangle 6"/>
          <p:cNvSpPr/>
          <p:nvPr/>
        </p:nvSpPr>
        <p:spPr>
          <a:xfrm>
            <a:off x="7589520" y="1234440"/>
            <a:ext cx="4206240" cy="3200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325880"/>
            <a:ext cx="4023360" cy="411480"/>
          </a:xfrm>
          <a:prstGeom prst="rect">
            <a:avLst/>
          </a:prstGeom>
          <a:noFill/>
        </p:spPr>
        <p:txBody>
          <a:bodyPr wrap="square">
            <a:spAutoFit/>
          </a:bodyPr>
          <a:lstStyle/>
          <a:p>
            <a:pPr algn="l"/>
            <a:r>
              <a:rPr sz="1400" b="1" i="0">
                <a:solidFill>
                  <a:srgbClr val="FFFFFF"/>
                </a:solidFill>
              </a:rPr>
              <a:t>K-D Tree build (2D)</a:t>
            </a:r>
          </a:p>
        </p:txBody>
      </p:sp>
      <p:sp>
        <p:nvSpPr>
          <p:cNvPr id="9" name="TextBox 8"/>
          <p:cNvSpPr txBox="1"/>
          <p:nvPr/>
        </p:nvSpPr>
        <p:spPr>
          <a:xfrm>
            <a:off x="7680960" y="1783080"/>
            <a:ext cx="4023360" cy="2468880"/>
          </a:xfrm>
          <a:prstGeom prst="rect">
            <a:avLst/>
          </a:prstGeom>
          <a:noFill/>
        </p:spPr>
        <p:txBody>
          <a:bodyPr wrap="square">
            <a:spAutoFit/>
          </a:bodyPr>
          <a:lstStyle/>
          <a:p>
            <a:pPr algn="l"/>
            <a:r>
              <a:rPr sz="1300" b="0" i="0">
                <a:solidFill>
                  <a:srgbClr val="B0E8B0"/>
                </a:solidFill>
              </a:rPr>
              <a:t>points = [(x,y), unit_id]
_build(points, depth):
  axis = depth % 2  (x or y)
  sort by axis, split at median
  left  = _build(left half)
  right = _build(right half)
Build: O(n log n)
1-NN query: O(log n) avg
  (prune far subtree if
   split-plane dist &gt; best)</a:t>
            </a:r>
          </a:p>
        </p:txBody>
      </p:sp>
      <p:sp>
        <p:nvSpPr>
          <p:cNvPr id="10" name="TextBox 9"/>
          <p:cNvSpPr txBox="1"/>
          <p:nvPr/>
        </p:nvSpPr>
        <p:spPr>
          <a:xfrm>
            <a:off x="457200" y="4572000"/>
            <a:ext cx="11338560" cy="2011680"/>
          </a:xfrm>
          <a:prstGeom prst="rect">
            <a:avLst/>
          </a:prstGeom>
          <a:noFill/>
        </p:spPr>
        <p:txBody>
          <a:bodyPr wrap="square">
            <a:spAutoFit/>
          </a:bodyPr>
          <a:lstStyle/>
          <a:p>
            <a:pPr>
              <a:spcBef>
                <a:spcPts val="400"/>
              </a:spcBef>
            </a:pPr>
            <a:r>
              <a:rPr sz="1500">
                <a:solidFill>
                  <a:srgbClr val="1C1C1C"/>
                </a:solidFill>
              </a:rPr>
              <a:t>Dynamic edge weights (also Phase 3): edges stored as mutable lists instead of tuples</a:t>
            </a:r>
          </a:p>
          <a:p>
            <a:pPr>
              <a:spcBef>
                <a:spcPts val="400"/>
              </a:spcBef>
            </a:pPr>
            <a:r>
              <a:rPr sz="1500">
                <a:solidFill>
                  <a:srgbClr val="1C1C1C"/>
                </a:solidFill>
              </a:rPr>
              <a:t>update_weight(u, v, w): O(degree(u)+degree(v)) scan in-place. Dijkstra re-run on demand -&gt; always current.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9144000" cy="594360"/>
          </a:xfrm>
          <a:prstGeom prst="rect">
            <a:avLst/>
          </a:prstGeom>
          <a:noFill/>
        </p:spPr>
        <p:txBody>
          <a:bodyPr wrap="square">
            <a:spAutoFit/>
          </a:bodyPr>
          <a:lstStyle/>
          <a:p>
            <a:pPr algn="l"/>
            <a:r>
              <a:rPr sz="2600" b="1" i="0">
                <a:solidFill>
                  <a:srgbClr val="FFFFFF"/>
                </a:solidFill>
              </a:rPr>
              <a:t>Performance Results</a:t>
            </a:r>
          </a:p>
        </p:txBody>
      </p:sp>
      <p:sp>
        <p:nvSpPr>
          <p:cNvPr id="5" name="TextBox 4"/>
          <p:cNvSpPr txBox="1"/>
          <p:nvPr/>
        </p:nvSpPr>
        <p:spPr>
          <a:xfrm>
            <a:off x="274320" y="685800"/>
            <a:ext cx="9144000" cy="320040"/>
          </a:xfrm>
          <a:prstGeom prst="rect">
            <a:avLst/>
          </a:prstGeom>
          <a:noFill/>
        </p:spPr>
        <p:txBody>
          <a:bodyPr wrap="square">
            <a:spAutoFit/>
          </a:bodyPr>
          <a:lstStyle/>
          <a:p>
            <a:pPr algn="l"/>
            <a:r>
              <a:rPr sz="1400" b="0" i="1">
                <a:solidFill>
                  <a:srgbClr val="B0C8E8"/>
                </a:solidFill>
              </a:rPr>
              <a:t>20x20 grid (400 nodes), avg over 15 calls x 3 repeats</a:t>
            </a:r>
          </a:p>
        </p:txBody>
      </p:sp>
      <p:sp>
        <p:nvSpPr>
          <p:cNvPr id="6" name="Rectangle 5"/>
          <p:cNvSpPr/>
          <p:nvPr/>
        </p:nvSpPr>
        <p:spPr>
          <a:xfrm>
            <a:off x="457200" y="1234440"/>
            <a:ext cx="8229600" cy="621792"/>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07592"/>
            <a:ext cx="1645920" cy="457200"/>
          </a:xfrm>
          <a:prstGeom prst="rect">
            <a:avLst/>
          </a:prstGeom>
          <a:noFill/>
        </p:spPr>
        <p:txBody>
          <a:bodyPr wrap="square">
            <a:spAutoFit/>
          </a:bodyPr>
          <a:lstStyle/>
          <a:p>
            <a:pPr algn="ctr"/>
            <a:r>
              <a:rPr sz="1700" b="1" i="0">
                <a:solidFill>
                  <a:srgbClr val="FFFFFF"/>
                </a:solidFill>
              </a:rPr>
              <a:t>Fleet</a:t>
            </a:r>
          </a:p>
        </p:txBody>
      </p:sp>
      <p:sp>
        <p:nvSpPr>
          <p:cNvPr id="8" name="TextBox 7"/>
          <p:cNvSpPr txBox="1"/>
          <p:nvPr/>
        </p:nvSpPr>
        <p:spPr>
          <a:xfrm>
            <a:off x="2743200" y="1307592"/>
            <a:ext cx="1828800" cy="457200"/>
          </a:xfrm>
          <a:prstGeom prst="rect">
            <a:avLst/>
          </a:prstGeom>
          <a:noFill/>
        </p:spPr>
        <p:txBody>
          <a:bodyPr wrap="square">
            <a:spAutoFit/>
          </a:bodyPr>
          <a:lstStyle/>
          <a:p>
            <a:pPr algn="ctr"/>
            <a:r>
              <a:rPr sz="1700" b="1" i="0">
                <a:solidFill>
                  <a:srgbClr val="FFFFFF"/>
                </a:solidFill>
              </a:rPr>
              <a:t>Phase 2</a:t>
            </a:r>
          </a:p>
        </p:txBody>
      </p:sp>
      <p:sp>
        <p:nvSpPr>
          <p:cNvPr id="9" name="TextBox 8"/>
          <p:cNvSpPr txBox="1"/>
          <p:nvPr/>
        </p:nvSpPr>
        <p:spPr>
          <a:xfrm>
            <a:off x="4846320" y="1307592"/>
            <a:ext cx="1828800" cy="457200"/>
          </a:xfrm>
          <a:prstGeom prst="rect">
            <a:avLst/>
          </a:prstGeom>
          <a:noFill/>
        </p:spPr>
        <p:txBody>
          <a:bodyPr wrap="square">
            <a:spAutoFit/>
          </a:bodyPr>
          <a:lstStyle/>
          <a:p>
            <a:pPr algn="ctr"/>
            <a:r>
              <a:rPr sz="1700" b="1" i="0">
                <a:solidFill>
                  <a:srgbClr val="FFFFFF"/>
                </a:solidFill>
              </a:rPr>
              <a:t>Phase 3</a:t>
            </a:r>
          </a:p>
        </p:txBody>
      </p:sp>
      <p:sp>
        <p:nvSpPr>
          <p:cNvPr id="10" name="TextBox 9"/>
          <p:cNvSpPr txBox="1"/>
          <p:nvPr/>
        </p:nvSpPr>
        <p:spPr>
          <a:xfrm>
            <a:off x="6949440" y="1307592"/>
            <a:ext cx="1645920" cy="457200"/>
          </a:xfrm>
          <a:prstGeom prst="rect">
            <a:avLst/>
          </a:prstGeom>
          <a:noFill/>
        </p:spPr>
        <p:txBody>
          <a:bodyPr wrap="square">
            <a:spAutoFit/>
          </a:bodyPr>
          <a:lstStyle/>
          <a:p>
            <a:pPr algn="ctr"/>
            <a:r>
              <a:rPr sz="1700" b="1" i="0">
                <a:solidFill>
                  <a:srgbClr val="FFFFFF"/>
                </a:solidFill>
              </a:rPr>
              <a:t>Speedup</a:t>
            </a:r>
          </a:p>
        </p:txBody>
      </p:sp>
      <p:sp>
        <p:nvSpPr>
          <p:cNvPr id="11" name="Rectangle 10"/>
          <p:cNvSpPr/>
          <p:nvPr/>
        </p:nvSpPr>
        <p:spPr>
          <a:xfrm>
            <a:off x="457200" y="1892808"/>
            <a:ext cx="8229600" cy="621792"/>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65960"/>
            <a:ext cx="1645920" cy="457200"/>
          </a:xfrm>
          <a:prstGeom prst="rect">
            <a:avLst/>
          </a:prstGeom>
          <a:noFill/>
        </p:spPr>
        <p:txBody>
          <a:bodyPr wrap="square">
            <a:spAutoFit/>
          </a:bodyPr>
          <a:lstStyle/>
          <a:p>
            <a:pPr algn="ctr"/>
            <a:r>
              <a:rPr sz="1800" b="0" i="0">
                <a:solidFill>
                  <a:srgbClr val="1C1C1C"/>
                </a:solidFill>
              </a:rPr>
              <a:t>10</a:t>
            </a:r>
          </a:p>
        </p:txBody>
      </p:sp>
      <p:sp>
        <p:nvSpPr>
          <p:cNvPr id="13" name="TextBox 12"/>
          <p:cNvSpPr txBox="1"/>
          <p:nvPr/>
        </p:nvSpPr>
        <p:spPr>
          <a:xfrm>
            <a:off x="2743200" y="1965960"/>
            <a:ext cx="1828800" cy="457200"/>
          </a:xfrm>
          <a:prstGeom prst="rect">
            <a:avLst/>
          </a:prstGeom>
          <a:noFill/>
        </p:spPr>
        <p:txBody>
          <a:bodyPr wrap="square">
            <a:spAutoFit/>
          </a:bodyPr>
          <a:lstStyle/>
          <a:p>
            <a:pPr algn="ctr"/>
            <a:r>
              <a:rPr sz="1800" b="0" i="0">
                <a:solidFill>
                  <a:srgbClr val="1C1C1C"/>
                </a:solidFill>
              </a:rPr>
              <a:t>0.59 ms</a:t>
            </a:r>
          </a:p>
        </p:txBody>
      </p:sp>
      <p:sp>
        <p:nvSpPr>
          <p:cNvPr id="14" name="TextBox 13"/>
          <p:cNvSpPr txBox="1"/>
          <p:nvPr/>
        </p:nvSpPr>
        <p:spPr>
          <a:xfrm>
            <a:off x="4846320" y="1965960"/>
            <a:ext cx="1828800" cy="457200"/>
          </a:xfrm>
          <a:prstGeom prst="rect">
            <a:avLst/>
          </a:prstGeom>
          <a:noFill/>
        </p:spPr>
        <p:txBody>
          <a:bodyPr wrap="square">
            <a:spAutoFit/>
          </a:bodyPr>
          <a:lstStyle/>
          <a:p>
            <a:pPr algn="ctr"/>
            <a:r>
              <a:rPr sz="1800" b="0" i="0">
                <a:solidFill>
                  <a:srgbClr val="1C1C1C"/>
                </a:solidFill>
              </a:rPr>
              <a:t>0.22 ms</a:t>
            </a:r>
          </a:p>
        </p:txBody>
      </p:sp>
      <p:sp>
        <p:nvSpPr>
          <p:cNvPr id="15" name="TextBox 14"/>
          <p:cNvSpPr txBox="1"/>
          <p:nvPr/>
        </p:nvSpPr>
        <p:spPr>
          <a:xfrm>
            <a:off x="6949440" y="1965960"/>
            <a:ext cx="1645920" cy="457200"/>
          </a:xfrm>
          <a:prstGeom prst="rect">
            <a:avLst/>
          </a:prstGeom>
          <a:noFill/>
        </p:spPr>
        <p:txBody>
          <a:bodyPr wrap="square">
            <a:spAutoFit/>
          </a:bodyPr>
          <a:lstStyle/>
          <a:p>
            <a:pPr algn="ctr"/>
            <a:r>
              <a:rPr sz="1800" b="1" i="0">
                <a:solidFill>
                  <a:srgbClr val="E86B2C"/>
                </a:solidFill>
              </a:rPr>
              <a:t>2.6x</a:t>
            </a:r>
          </a:p>
        </p:txBody>
      </p:sp>
      <p:sp>
        <p:nvSpPr>
          <p:cNvPr id="16" name="Rectangle 15"/>
          <p:cNvSpPr/>
          <p:nvPr/>
        </p:nvSpPr>
        <p:spPr>
          <a:xfrm>
            <a:off x="457200" y="2551176"/>
            <a:ext cx="8229600" cy="621792"/>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624328"/>
            <a:ext cx="1645920" cy="457200"/>
          </a:xfrm>
          <a:prstGeom prst="rect">
            <a:avLst/>
          </a:prstGeom>
          <a:noFill/>
        </p:spPr>
        <p:txBody>
          <a:bodyPr wrap="square">
            <a:spAutoFit/>
          </a:bodyPr>
          <a:lstStyle/>
          <a:p>
            <a:pPr algn="ctr"/>
            <a:r>
              <a:rPr sz="1800" b="0" i="0">
                <a:solidFill>
                  <a:srgbClr val="1C1C1C"/>
                </a:solidFill>
              </a:rPr>
              <a:t>25</a:t>
            </a:r>
          </a:p>
        </p:txBody>
      </p:sp>
      <p:sp>
        <p:nvSpPr>
          <p:cNvPr id="18" name="TextBox 17"/>
          <p:cNvSpPr txBox="1"/>
          <p:nvPr/>
        </p:nvSpPr>
        <p:spPr>
          <a:xfrm>
            <a:off x="2743200" y="2624328"/>
            <a:ext cx="1828800" cy="457200"/>
          </a:xfrm>
          <a:prstGeom prst="rect">
            <a:avLst/>
          </a:prstGeom>
          <a:noFill/>
        </p:spPr>
        <p:txBody>
          <a:bodyPr wrap="square">
            <a:spAutoFit/>
          </a:bodyPr>
          <a:lstStyle/>
          <a:p>
            <a:pPr algn="ctr"/>
            <a:r>
              <a:rPr sz="1800" b="0" i="0">
                <a:solidFill>
                  <a:srgbClr val="1C1C1C"/>
                </a:solidFill>
              </a:rPr>
              <a:t>2.76 ms</a:t>
            </a:r>
          </a:p>
        </p:txBody>
      </p:sp>
      <p:sp>
        <p:nvSpPr>
          <p:cNvPr id="19" name="TextBox 18"/>
          <p:cNvSpPr txBox="1"/>
          <p:nvPr/>
        </p:nvSpPr>
        <p:spPr>
          <a:xfrm>
            <a:off x="4846320" y="2624328"/>
            <a:ext cx="1828800" cy="457200"/>
          </a:xfrm>
          <a:prstGeom prst="rect">
            <a:avLst/>
          </a:prstGeom>
          <a:noFill/>
        </p:spPr>
        <p:txBody>
          <a:bodyPr wrap="square">
            <a:spAutoFit/>
          </a:bodyPr>
          <a:lstStyle/>
          <a:p>
            <a:pPr algn="ctr"/>
            <a:r>
              <a:rPr sz="1800" b="0" i="0">
                <a:solidFill>
                  <a:srgbClr val="1C1C1C"/>
                </a:solidFill>
              </a:rPr>
              <a:t>0.21 ms</a:t>
            </a:r>
          </a:p>
        </p:txBody>
      </p:sp>
      <p:sp>
        <p:nvSpPr>
          <p:cNvPr id="20" name="TextBox 19"/>
          <p:cNvSpPr txBox="1"/>
          <p:nvPr/>
        </p:nvSpPr>
        <p:spPr>
          <a:xfrm>
            <a:off x="6949440" y="2624328"/>
            <a:ext cx="1645920" cy="457200"/>
          </a:xfrm>
          <a:prstGeom prst="rect">
            <a:avLst/>
          </a:prstGeom>
          <a:noFill/>
        </p:spPr>
        <p:txBody>
          <a:bodyPr wrap="square">
            <a:spAutoFit/>
          </a:bodyPr>
          <a:lstStyle/>
          <a:p>
            <a:pPr algn="ctr"/>
            <a:r>
              <a:rPr sz="1800" b="1" i="0">
                <a:solidFill>
                  <a:srgbClr val="E86B2C"/>
                </a:solidFill>
              </a:rPr>
              <a:t>13.2x</a:t>
            </a:r>
          </a:p>
        </p:txBody>
      </p:sp>
      <p:sp>
        <p:nvSpPr>
          <p:cNvPr id="21" name="Rectangle 20"/>
          <p:cNvSpPr/>
          <p:nvPr/>
        </p:nvSpPr>
        <p:spPr>
          <a:xfrm>
            <a:off x="457200" y="3209544"/>
            <a:ext cx="8229600" cy="621792"/>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282696"/>
            <a:ext cx="1645920" cy="457200"/>
          </a:xfrm>
          <a:prstGeom prst="rect">
            <a:avLst/>
          </a:prstGeom>
          <a:noFill/>
        </p:spPr>
        <p:txBody>
          <a:bodyPr wrap="square">
            <a:spAutoFit/>
          </a:bodyPr>
          <a:lstStyle/>
          <a:p>
            <a:pPr algn="ctr"/>
            <a:r>
              <a:rPr sz="1800" b="0" i="0">
                <a:solidFill>
                  <a:srgbClr val="1C1C1C"/>
                </a:solidFill>
              </a:rPr>
              <a:t>50</a:t>
            </a:r>
          </a:p>
        </p:txBody>
      </p:sp>
      <p:sp>
        <p:nvSpPr>
          <p:cNvPr id="23" name="TextBox 22"/>
          <p:cNvSpPr txBox="1"/>
          <p:nvPr/>
        </p:nvSpPr>
        <p:spPr>
          <a:xfrm>
            <a:off x="2743200" y="3282696"/>
            <a:ext cx="1828800" cy="457200"/>
          </a:xfrm>
          <a:prstGeom prst="rect">
            <a:avLst/>
          </a:prstGeom>
          <a:noFill/>
        </p:spPr>
        <p:txBody>
          <a:bodyPr wrap="square">
            <a:spAutoFit/>
          </a:bodyPr>
          <a:lstStyle/>
          <a:p>
            <a:pPr algn="ctr"/>
            <a:r>
              <a:rPr sz="1800" b="0" i="0">
                <a:solidFill>
                  <a:srgbClr val="1C1C1C"/>
                </a:solidFill>
              </a:rPr>
              <a:t>6.56 ms</a:t>
            </a:r>
          </a:p>
        </p:txBody>
      </p:sp>
      <p:sp>
        <p:nvSpPr>
          <p:cNvPr id="24" name="TextBox 23"/>
          <p:cNvSpPr txBox="1"/>
          <p:nvPr/>
        </p:nvSpPr>
        <p:spPr>
          <a:xfrm>
            <a:off x="4846320" y="3282696"/>
            <a:ext cx="1828800" cy="457200"/>
          </a:xfrm>
          <a:prstGeom prst="rect">
            <a:avLst/>
          </a:prstGeom>
          <a:noFill/>
        </p:spPr>
        <p:txBody>
          <a:bodyPr wrap="square">
            <a:spAutoFit/>
          </a:bodyPr>
          <a:lstStyle/>
          <a:p>
            <a:pPr algn="ctr"/>
            <a:r>
              <a:rPr sz="1800" b="0" i="0">
                <a:solidFill>
                  <a:srgbClr val="1C1C1C"/>
                </a:solidFill>
              </a:rPr>
              <a:t>0.16 ms</a:t>
            </a:r>
          </a:p>
        </p:txBody>
      </p:sp>
      <p:sp>
        <p:nvSpPr>
          <p:cNvPr id="25" name="TextBox 24"/>
          <p:cNvSpPr txBox="1"/>
          <p:nvPr/>
        </p:nvSpPr>
        <p:spPr>
          <a:xfrm>
            <a:off x="6949440" y="3282696"/>
            <a:ext cx="1645920" cy="457200"/>
          </a:xfrm>
          <a:prstGeom prst="rect">
            <a:avLst/>
          </a:prstGeom>
          <a:noFill/>
        </p:spPr>
        <p:txBody>
          <a:bodyPr wrap="square">
            <a:spAutoFit/>
          </a:bodyPr>
          <a:lstStyle/>
          <a:p>
            <a:pPr algn="ctr"/>
            <a:r>
              <a:rPr sz="1800" b="1" i="0">
                <a:solidFill>
                  <a:srgbClr val="E86B2C"/>
                </a:solidFill>
              </a:rPr>
              <a:t>40.9x</a:t>
            </a:r>
          </a:p>
        </p:txBody>
      </p:sp>
      <p:sp>
        <p:nvSpPr>
          <p:cNvPr id="26" name="Rectangle 25"/>
          <p:cNvSpPr/>
          <p:nvPr/>
        </p:nvSpPr>
        <p:spPr>
          <a:xfrm>
            <a:off x="457200" y="3867912"/>
            <a:ext cx="8229600" cy="621792"/>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941064"/>
            <a:ext cx="1645920" cy="457200"/>
          </a:xfrm>
          <a:prstGeom prst="rect">
            <a:avLst/>
          </a:prstGeom>
          <a:noFill/>
        </p:spPr>
        <p:txBody>
          <a:bodyPr wrap="square">
            <a:spAutoFit/>
          </a:bodyPr>
          <a:lstStyle/>
          <a:p>
            <a:pPr algn="ctr"/>
            <a:r>
              <a:rPr sz="1800" b="0" i="0">
                <a:solidFill>
                  <a:srgbClr val="1C1C1C"/>
                </a:solidFill>
              </a:rPr>
              <a:t>100</a:t>
            </a:r>
          </a:p>
        </p:txBody>
      </p:sp>
      <p:sp>
        <p:nvSpPr>
          <p:cNvPr id="28" name="TextBox 27"/>
          <p:cNvSpPr txBox="1"/>
          <p:nvPr/>
        </p:nvSpPr>
        <p:spPr>
          <a:xfrm>
            <a:off x="2743200" y="3941064"/>
            <a:ext cx="1828800" cy="457200"/>
          </a:xfrm>
          <a:prstGeom prst="rect">
            <a:avLst/>
          </a:prstGeom>
          <a:noFill/>
        </p:spPr>
        <p:txBody>
          <a:bodyPr wrap="square">
            <a:spAutoFit/>
          </a:bodyPr>
          <a:lstStyle/>
          <a:p>
            <a:pPr algn="ctr"/>
            <a:r>
              <a:rPr sz="1800" b="0" i="0">
                <a:solidFill>
                  <a:srgbClr val="1C1C1C"/>
                </a:solidFill>
              </a:rPr>
              <a:t>14.4 ms</a:t>
            </a:r>
          </a:p>
        </p:txBody>
      </p:sp>
      <p:sp>
        <p:nvSpPr>
          <p:cNvPr id="29" name="TextBox 28"/>
          <p:cNvSpPr txBox="1"/>
          <p:nvPr/>
        </p:nvSpPr>
        <p:spPr>
          <a:xfrm>
            <a:off x="4846320" y="3941064"/>
            <a:ext cx="1828800" cy="457200"/>
          </a:xfrm>
          <a:prstGeom prst="rect">
            <a:avLst/>
          </a:prstGeom>
          <a:noFill/>
        </p:spPr>
        <p:txBody>
          <a:bodyPr wrap="square">
            <a:spAutoFit/>
          </a:bodyPr>
          <a:lstStyle/>
          <a:p>
            <a:pPr algn="ctr"/>
            <a:r>
              <a:rPr sz="1800" b="0" i="0">
                <a:solidFill>
                  <a:srgbClr val="1C1C1C"/>
                </a:solidFill>
              </a:rPr>
              <a:t>0.19 ms</a:t>
            </a:r>
          </a:p>
        </p:txBody>
      </p:sp>
      <p:sp>
        <p:nvSpPr>
          <p:cNvPr id="30" name="TextBox 29"/>
          <p:cNvSpPr txBox="1"/>
          <p:nvPr/>
        </p:nvSpPr>
        <p:spPr>
          <a:xfrm>
            <a:off x="6949440" y="3941064"/>
            <a:ext cx="1645920" cy="457200"/>
          </a:xfrm>
          <a:prstGeom prst="rect">
            <a:avLst/>
          </a:prstGeom>
          <a:noFill/>
        </p:spPr>
        <p:txBody>
          <a:bodyPr wrap="square">
            <a:spAutoFit/>
          </a:bodyPr>
          <a:lstStyle/>
          <a:p>
            <a:pPr algn="ctr"/>
            <a:r>
              <a:rPr sz="1800" b="1" i="0">
                <a:solidFill>
                  <a:srgbClr val="E86B2C"/>
                </a:solidFill>
              </a:rPr>
              <a:t>76.4x</a:t>
            </a:r>
          </a:p>
        </p:txBody>
      </p:sp>
      <p:sp>
        <p:nvSpPr>
          <p:cNvPr id="31" name="Rectangle 30"/>
          <p:cNvSpPr/>
          <p:nvPr/>
        </p:nvSpPr>
        <p:spPr>
          <a:xfrm>
            <a:off x="457200" y="4526279"/>
            <a:ext cx="8229600" cy="621792"/>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4599431"/>
            <a:ext cx="1645920" cy="457200"/>
          </a:xfrm>
          <a:prstGeom prst="rect">
            <a:avLst/>
          </a:prstGeom>
          <a:noFill/>
        </p:spPr>
        <p:txBody>
          <a:bodyPr wrap="square">
            <a:spAutoFit/>
          </a:bodyPr>
          <a:lstStyle/>
          <a:p>
            <a:pPr algn="ctr"/>
            <a:r>
              <a:rPr sz="1800" b="0" i="0">
                <a:solidFill>
                  <a:srgbClr val="FFFFFF"/>
                </a:solidFill>
              </a:rPr>
              <a:t>200</a:t>
            </a:r>
          </a:p>
        </p:txBody>
      </p:sp>
      <p:sp>
        <p:nvSpPr>
          <p:cNvPr id="33" name="TextBox 32"/>
          <p:cNvSpPr txBox="1"/>
          <p:nvPr/>
        </p:nvSpPr>
        <p:spPr>
          <a:xfrm>
            <a:off x="2743200" y="4599431"/>
            <a:ext cx="1828800" cy="457200"/>
          </a:xfrm>
          <a:prstGeom prst="rect">
            <a:avLst/>
          </a:prstGeom>
          <a:noFill/>
        </p:spPr>
        <p:txBody>
          <a:bodyPr wrap="square">
            <a:spAutoFit/>
          </a:bodyPr>
          <a:lstStyle/>
          <a:p>
            <a:pPr algn="ctr"/>
            <a:r>
              <a:rPr sz="1800" b="0" i="0">
                <a:solidFill>
                  <a:srgbClr val="FFFFFF"/>
                </a:solidFill>
              </a:rPr>
              <a:t>29.1 ms</a:t>
            </a:r>
          </a:p>
        </p:txBody>
      </p:sp>
      <p:sp>
        <p:nvSpPr>
          <p:cNvPr id="34" name="TextBox 33"/>
          <p:cNvSpPr txBox="1"/>
          <p:nvPr/>
        </p:nvSpPr>
        <p:spPr>
          <a:xfrm>
            <a:off x="4846320" y="4599431"/>
            <a:ext cx="1828800" cy="457200"/>
          </a:xfrm>
          <a:prstGeom prst="rect">
            <a:avLst/>
          </a:prstGeom>
          <a:noFill/>
        </p:spPr>
        <p:txBody>
          <a:bodyPr wrap="square">
            <a:spAutoFit/>
          </a:bodyPr>
          <a:lstStyle/>
          <a:p>
            <a:pPr algn="ctr"/>
            <a:r>
              <a:rPr sz="1800" b="0" i="0">
                <a:solidFill>
                  <a:srgbClr val="FFFFFF"/>
                </a:solidFill>
              </a:rPr>
              <a:t>0.28 ms</a:t>
            </a:r>
          </a:p>
        </p:txBody>
      </p:sp>
      <p:sp>
        <p:nvSpPr>
          <p:cNvPr id="35" name="TextBox 34"/>
          <p:cNvSpPr txBox="1"/>
          <p:nvPr/>
        </p:nvSpPr>
        <p:spPr>
          <a:xfrm>
            <a:off x="6949440" y="4599431"/>
            <a:ext cx="1645920" cy="457200"/>
          </a:xfrm>
          <a:prstGeom prst="rect">
            <a:avLst/>
          </a:prstGeom>
          <a:noFill/>
        </p:spPr>
        <p:txBody>
          <a:bodyPr wrap="square">
            <a:spAutoFit/>
          </a:bodyPr>
          <a:lstStyle/>
          <a:p>
            <a:pPr algn="ctr"/>
            <a:r>
              <a:rPr sz="1800" b="1" i="0">
                <a:solidFill>
                  <a:srgbClr val="E86B2C"/>
                </a:solidFill>
              </a:rPr>
              <a:t>105.5x</a:t>
            </a:r>
          </a:p>
        </p:txBody>
      </p:sp>
      <p:sp>
        <p:nvSpPr>
          <p:cNvPr id="36" name="Rectangle 35"/>
          <p:cNvSpPr/>
          <p:nvPr/>
        </p:nvSpPr>
        <p:spPr>
          <a:xfrm>
            <a:off x="9052560" y="1234440"/>
            <a:ext cx="2743200" cy="452628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0" y="1325880"/>
            <a:ext cx="2560320" cy="411480"/>
          </a:xfrm>
          <a:prstGeom prst="rect">
            <a:avLst/>
          </a:prstGeom>
          <a:noFill/>
        </p:spPr>
        <p:txBody>
          <a:bodyPr wrap="square">
            <a:spAutoFit/>
          </a:bodyPr>
          <a:lstStyle/>
          <a:p>
            <a:pPr algn="l"/>
            <a:r>
              <a:rPr sz="1400" b="1" i="0">
                <a:solidFill>
                  <a:srgbClr val="FFFFFF"/>
                </a:solidFill>
              </a:rPr>
              <a:t>Key takeaways</a:t>
            </a:r>
          </a:p>
        </p:txBody>
      </p:sp>
      <p:sp>
        <p:nvSpPr>
          <p:cNvPr id="38" name="TextBox 37"/>
          <p:cNvSpPr txBox="1"/>
          <p:nvPr/>
        </p:nvSpPr>
        <p:spPr>
          <a:xfrm>
            <a:off x="9144000" y="1783080"/>
            <a:ext cx="2560320" cy="3657600"/>
          </a:xfrm>
          <a:prstGeom prst="rect">
            <a:avLst/>
          </a:prstGeom>
          <a:noFill/>
        </p:spPr>
        <p:txBody>
          <a:bodyPr wrap="square">
            <a:spAutoFit/>
          </a:bodyPr>
          <a:lstStyle/>
          <a:p>
            <a:pPr algn="l"/>
            <a:r>
              <a:rPr sz="1400" b="0" i="0">
                <a:solidFill>
                  <a:srgbClr val="CCDDFF"/>
                </a:solidFill>
              </a:rPr>
              <a:t>Phase 2 scales
linearly with n
Phase 3 stays
flat (k=3 fixed)
105x speedup
at n=200
Phase 3 time
includes full
tree rebuild</a:t>
            </a:r>
          </a:p>
        </p:txBody>
      </p:sp>
      <p:sp>
        <p:nvSpPr>
          <p:cNvPr id="39" name="TextBox 38"/>
          <p:cNvSpPr txBox="1"/>
          <p:nvPr/>
        </p:nvSpPr>
        <p:spPr>
          <a:xfrm>
            <a:off x="457200" y="5303520"/>
            <a:ext cx="8229600" cy="457200"/>
          </a:xfrm>
          <a:prstGeom prst="rect">
            <a:avLst/>
          </a:prstGeom>
          <a:noFill/>
        </p:spPr>
        <p:txBody>
          <a:bodyPr wrap="square">
            <a:spAutoFit/>
          </a:bodyPr>
          <a:lstStyle/>
          <a:p>
            <a:pPr algn="l"/>
            <a:r>
              <a:rPr sz="1400" b="0" i="1">
                <a:solidFill>
                  <a:srgbClr val="1C1C1C"/>
                </a:solidFill>
              </a:rPr>
              <a:t>Both use identical Dijkstra code on the same graph. Entire speedup = fewer Dijkstra calls (3 vs 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9144000" cy="594360"/>
          </a:xfrm>
          <a:prstGeom prst="rect">
            <a:avLst/>
          </a:prstGeom>
          <a:noFill/>
        </p:spPr>
        <p:txBody>
          <a:bodyPr wrap="square">
            <a:spAutoFit/>
          </a:bodyPr>
          <a:lstStyle/>
          <a:p>
            <a:pPr algn="l"/>
            <a:r>
              <a:rPr sz="2600" b="1" i="0">
                <a:solidFill>
                  <a:srgbClr val="FFFFFF"/>
                </a:solidFill>
              </a:rPr>
              <a:t>Testing and Validation</a:t>
            </a:r>
          </a:p>
        </p:txBody>
      </p:sp>
      <p:sp>
        <p:nvSpPr>
          <p:cNvPr id="5" name="TextBox 4"/>
          <p:cNvSpPr txBox="1"/>
          <p:nvPr/>
        </p:nvSpPr>
        <p:spPr>
          <a:xfrm>
            <a:off x="274320" y="685800"/>
            <a:ext cx="9144000" cy="320040"/>
          </a:xfrm>
          <a:prstGeom prst="rect">
            <a:avLst/>
          </a:prstGeom>
          <a:noFill/>
        </p:spPr>
        <p:txBody>
          <a:bodyPr wrap="square">
            <a:spAutoFit/>
          </a:bodyPr>
          <a:lstStyle/>
          <a:p>
            <a:pPr algn="l"/>
            <a:r>
              <a:rPr sz="1400" b="0" i="1">
                <a:solidFill>
                  <a:srgbClr val="B0C8E8"/>
                </a:solidFill>
              </a:rPr>
              <a:t>14 tests across Phases 2 and 3</a:t>
            </a:r>
          </a:p>
        </p:txBody>
      </p:sp>
      <p:sp>
        <p:nvSpPr>
          <p:cNvPr id="6" name="TextBox 5"/>
          <p:cNvSpPr txBox="1"/>
          <p:nvPr/>
        </p:nvSpPr>
        <p:spPr>
          <a:xfrm>
            <a:off x="457200" y="1234440"/>
            <a:ext cx="5669280" cy="5303520"/>
          </a:xfrm>
          <a:prstGeom prst="rect">
            <a:avLst/>
          </a:prstGeom>
          <a:noFill/>
        </p:spPr>
        <p:txBody>
          <a:bodyPr wrap="square">
            <a:spAutoFit/>
          </a:bodyPr>
          <a:lstStyle/>
          <a:p>
            <a:pPr>
              <a:spcBef>
                <a:spcPts val="400"/>
              </a:spcBef>
            </a:pPr>
            <a:r>
              <a:rPr sz="1500">
                <a:solidFill>
                  <a:srgbClr val="1C1C1C"/>
                </a:solidFill>
              </a:rPr>
              <a:t>Phase 2 (8 tests):</a:t>
            </a:r>
          </a:p>
          <a:p>
            <a:pPr>
              <a:spcBef>
                <a:spcPts val="400"/>
              </a:spcBef>
            </a:pPr>
            <a:r>
              <a:rPr sz="1500">
                <a:solidFill>
                  <a:srgbClr val="1C1C1C"/>
                </a:solidFill>
              </a:rPr>
              <a:t>  Push/pop order correct</a:t>
            </a:r>
          </a:p>
          <a:p>
            <a:pPr>
              <a:spcBef>
                <a:spcPts val="400"/>
              </a:spcBef>
            </a:pPr>
            <a:r>
              <a:rPr sz="1500">
                <a:solidFill>
                  <a:srgbClr val="1C1C1C"/>
                </a:solidFill>
              </a:rPr>
              <a:t>  decrease_key repositions call correctly</a:t>
            </a:r>
          </a:p>
          <a:p>
            <a:pPr>
              <a:spcBef>
                <a:spcPts val="400"/>
              </a:spcBef>
            </a:pPr>
            <a:r>
              <a:rPr sz="1500">
                <a:solidFill>
                  <a:srgbClr val="1C1C1C"/>
                </a:solidFill>
              </a:rPr>
              <a:t>  4 Dijkstra routes match expected</a:t>
            </a:r>
          </a:p>
          <a:p>
            <a:pPr>
              <a:spcBef>
                <a:spcPts val="400"/>
              </a:spcBef>
            </a:pPr>
            <a:r>
              <a:rPr sz="1500">
                <a:solidFill>
                  <a:srgbClr val="1C1C1C"/>
                </a:solidFill>
              </a:rPr>
              <a:t>  End-to-end: critical dispatched before urgent/standard</a:t>
            </a:r>
          </a:p>
          <a:p>
            <a:pPr>
              <a:spcBef>
                <a:spcPts val="400"/>
              </a:spcBef>
            </a:pPr>
            <a:r>
              <a:rPr sz="1500">
                <a:solidFill>
                  <a:srgbClr val="1C1C1C"/>
                </a:solidFill>
              </a:rPr>
              <a:t>  Retriage mid-queue works</a:t>
            </a:r>
          </a:p>
          <a:p>
            <a:pPr>
              <a:spcBef>
                <a:spcPts val="400"/>
              </a:spcBef>
            </a:pPr>
            <a:r>
              <a:rPr sz="1500">
                <a:solidFill>
                  <a:srgbClr val="1C1C1C"/>
                </a:solidFill>
              </a:rPr>
              <a:t>  No units -&gt; logs gracefully, no crash</a:t>
            </a:r>
          </a:p>
          <a:p>
            <a:pPr>
              <a:spcBef>
                <a:spcPts val="400"/>
              </a:spcBef>
            </a:pPr>
            <a:r>
              <a:rPr sz="1500">
                <a:solidFill>
                  <a:srgbClr val="1C1C1C"/>
                </a:solidFill>
              </a:rPr>
              <a:t>  Same-priority known limitation documented</a:t>
            </a:r>
          </a:p>
          <a:p>
            <a:pPr>
              <a:spcBef>
                <a:spcPts val="400"/>
              </a:spcBef>
            </a:pPr>
            <a:r>
              <a:rPr sz="1500">
                <a:solidFill>
                  <a:srgbClr val="1C1C1C"/>
                </a:solidFill>
              </a:rPr>
              <a:t/>
            </a:r>
          </a:p>
          <a:p>
            <a:pPr>
              <a:spcBef>
                <a:spcPts val="400"/>
              </a:spcBef>
            </a:pPr>
            <a:r>
              <a:rPr sz="1500">
                <a:solidFill>
                  <a:srgbClr val="1C1C1C"/>
                </a:solidFill>
              </a:rPr>
              <a:t>Phase 3 Test 4 - k-d tree accuracy:</a:t>
            </a:r>
          </a:p>
          <a:p>
            <a:pPr>
              <a:spcBef>
                <a:spcPts val="400"/>
              </a:spcBef>
            </a:pPr>
            <a:r>
              <a:rPr sz="1500">
                <a:solidFill>
                  <a:srgbClr val="1C1C1C"/>
                </a:solidFill>
              </a:rPr>
              <a:t>  All 6 city locations: k-d tree (k=3) chose</a:t>
            </a:r>
          </a:p>
          <a:p>
            <a:pPr>
              <a:spcBef>
                <a:spcPts val="400"/>
              </a:spcBef>
            </a:pPr>
            <a:r>
              <a:rPr sz="1500">
                <a:solidFill>
                  <a:srgbClr val="1C1C1C"/>
                </a:solidFill>
              </a:rPr>
              <a:t>  same unit as brute-force Dijkstra over all 5 units</a:t>
            </a:r>
          </a:p>
          <a:p>
            <a:pPr>
              <a:spcBef>
                <a:spcPts val="400"/>
              </a:spcBef>
            </a:pPr>
            <a:r>
              <a:rPr sz="1500">
                <a:solidFill>
                  <a:srgbClr val="1C1C1C"/>
                </a:solidFill>
              </a:rPr>
              <a:t>  -&gt; k=3 is sufficient for this network</a:t>
            </a:r>
          </a:p>
        </p:txBody>
      </p:sp>
      <p:sp>
        <p:nvSpPr>
          <p:cNvPr id="7" name="TextBox 6"/>
          <p:cNvSpPr txBox="1"/>
          <p:nvPr/>
        </p:nvSpPr>
        <p:spPr>
          <a:xfrm>
            <a:off x="6309360" y="1234440"/>
            <a:ext cx="5486400" cy="5303520"/>
          </a:xfrm>
          <a:prstGeom prst="rect">
            <a:avLst/>
          </a:prstGeom>
          <a:noFill/>
        </p:spPr>
        <p:txBody>
          <a:bodyPr wrap="square">
            <a:spAutoFit/>
          </a:bodyPr>
          <a:lstStyle/>
          <a:p>
            <a:pPr>
              <a:spcBef>
                <a:spcPts val="400"/>
              </a:spcBef>
            </a:pPr>
            <a:r>
              <a:rPr sz="1500">
                <a:solidFill>
                  <a:srgbClr val="1C1C1C"/>
                </a:solidFill>
              </a:rPr>
              <a:t>Phase 3 (6 tests):</a:t>
            </a:r>
          </a:p>
          <a:p>
            <a:pPr>
              <a:spcBef>
                <a:spcPts val="400"/>
              </a:spcBef>
            </a:pPr>
            <a:r>
              <a:rPr sz="1500">
                <a:solidFill>
                  <a:srgbClr val="1C1C1C"/>
                </a:solidFill>
              </a:rPr>
              <a:t>  KDTree: 1-NN, 2-NN, k&gt;n, empty tree all OK</a:t>
            </a:r>
          </a:p>
          <a:p>
            <a:pPr>
              <a:spcBef>
                <a:spcPts val="400"/>
              </a:spcBef>
            </a:pPr>
            <a:r>
              <a:rPr sz="1500">
                <a:solidFill>
                  <a:srgbClr val="1C1C1C"/>
                </a:solidFill>
              </a:rPr>
              <a:t>  Dynamic weights: congestion reroutes correctly,</a:t>
            </a:r>
          </a:p>
          <a:p>
            <a:pPr>
              <a:spcBef>
                <a:spcPts val="400"/>
              </a:spcBef>
            </a:pPr>
            <a:r>
              <a:rPr sz="1500">
                <a:solidFill>
                  <a:srgbClr val="1C1C1C"/>
                </a:solidFill>
              </a:rPr>
              <a:t>    restore brings back original path,</a:t>
            </a:r>
          </a:p>
          <a:p>
            <a:pPr>
              <a:spcBef>
                <a:spcPts val="400"/>
              </a:spcBef>
            </a:pPr>
            <a:r>
              <a:rPr sz="1500">
                <a:solidFill>
                  <a:srgbClr val="1C1C1C"/>
                </a:solidFill>
              </a:rPr>
              <a:t>    nonexistent edge raises KeyError</a:t>
            </a:r>
          </a:p>
          <a:p>
            <a:pPr>
              <a:spcBef>
                <a:spcPts val="400"/>
              </a:spcBef>
            </a:pPr>
            <a:r>
              <a:rPr sz="1500">
                <a:solidFill>
                  <a:srgbClr val="1C1C1C"/>
                </a:solidFill>
              </a:rPr>
              <a:t>  End-to-end matches Phase 2 exactly</a:t>
            </a:r>
          </a:p>
          <a:p>
            <a:pPr>
              <a:spcBef>
                <a:spcPts val="400"/>
              </a:spcBef>
            </a:pPr>
            <a:r>
              <a:rPr sz="1500">
                <a:solidFill>
                  <a:srgbClr val="1C1C1C"/>
                </a:solidFill>
              </a:rPr>
              <a:t>  k-d tree vs brute-force: all 6 match</a:t>
            </a:r>
          </a:p>
          <a:p>
            <a:pPr>
              <a:spcBef>
                <a:spcPts val="400"/>
              </a:spcBef>
            </a:pPr>
            <a:r>
              <a:rPr sz="1500">
                <a:solidFill>
                  <a:srgbClr val="1C1C1C"/>
                </a:solidFill>
              </a:rPr>
              <a:t/>
            </a:r>
          </a:p>
          <a:p>
            <a:pPr>
              <a:spcBef>
                <a:spcPts val="400"/>
              </a:spcBef>
            </a:pPr>
            <a:r>
              <a:rPr sz="1500">
                <a:solidFill>
                  <a:srgbClr val="1C1C1C"/>
                </a:solidFill>
              </a:rPr>
              <a:t>  Stress test (100 dispatches):</a:t>
            </a:r>
          </a:p>
          <a:p>
            <a:pPr>
              <a:spcBef>
                <a:spcPts val="400"/>
              </a:spcBef>
            </a:pPr>
            <a:r>
              <a:rPr sz="1500">
                <a:solidFill>
                  <a:srgbClr val="1C1C1C"/>
                </a:solidFill>
              </a:rPr>
              <a:t>  10x10 grid, 30 units, units returned</a:t>
            </a:r>
          </a:p>
          <a:p>
            <a:pPr>
              <a:spcBef>
                <a:spcPts val="400"/>
              </a:spcBef>
            </a:pPr>
            <a:r>
              <a:rPr sz="1500">
                <a:solidFill>
                  <a:srgbClr val="1C1C1C"/>
                </a:solidFill>
              </a:rPr>
              <a:t>  every 10 dispatches</a:t>
            </a:r>
          </a:p>
          <a:p>
            <a:pPr>
              <a:spcBef>
                <a:spcPts val="400"/>
              </a:spcBef>
            </a:pPr>
            <a:r>
              <a:rPr sz="1500">
                <a:solidFill>
                  <a:srgbClr val="1C1C1C"/>
                </a:solidFill>
              </a:rPr>
              <a:t>  -&gt; no crashes, no incorrect results</a:t>
            </a:r>
          </a:p>
          <a:p>
            <a:pPr>
              <a:spcBef>
                <a:spcPts val="400"/>
              </a:spcBef>
            </a:pPr>
            <a:r>
              <a:rPr sz="1500">
                <a:solidFill>
                  <a:srgbClr val="1C1C1C"/>
                </a:solidFill>
              </a:rPr>
              <a:t>  -&gt; tree rebuild correct after unit</a:t>
            </a:r>
          </a:p>
          <a:p>
            <a:pPr>
              <a:spcBef>
                <a:spcPts val="400"/>
              </a:spcBef>
            </a:pPr>
            <a:r>
              <a:rPr sz="1500">
                <a:solidFill>
                  <a:srgbClr val="1C1C1C"/>
                </a:solidFill>
              </a:rPr>
              <a:t>     location changes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9144000" cy="594360"/>
          </a:xfrm>
          <a:prstGeom prst="rect">
            <a:avLst/>
          </a:prstGeom>
          <a:noFill/>
        </p:spPr>
        <p:txBody>
          <a:bodyPr wrap="square">
            <a:spAutoFit/>
          </a:bodyPr>
          <a:lstStyle/>
          <a:p>
            <a:pPr algn="l"/>
            <a:r>
              <a:rPr sz="2600" b="1" i="0">
                <a:solidFill>
                  <a:srgbClr val="FFFFFF"/>
                </a:solidFill>
              </a:rPr>
              <a:t>Limitations and Trade-offs</a:t>
            </a:r>
          </a:p>
        </p:txBody>
      </p:sp>
      <p:sp>
        <p:nvSpPr>
          <p:cNvPr id="5" name="Rectangle 4"/>
          <p:cNvSpPr/>
          <p:nvPr/>
        </p:nvSpPr>
        <p:spPr>
          <a:xfrm>
            <a:off x="365760" y="1234440"/>
            <a:ext cx="11430000"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80160"/>
            <a:ext cx="5029200" cy="457200"/>
          </a:xfrm>
          <a:prstGeom prst="rect">
            <a:avLst/>
          </a:prstGeom>
          <a:noFill/>
        </p:spPr>
        <p:txBody>
          <a:bodyPr wrap="square">
            <a:spAutoFit/>
          </a:bodyPr>
          <a:lstStyle/>
          <a:p>
            <a:pPr algn="l"/>
            <a:r>
              <a:rPr sz="1500" b="1" i="0">
                <a:solidFill>
                  <a:srgbClr val="1A3A5C"/>
                </a:solidFill>
              </a:rPr>
              <a:t>1. Same-priority FIFO not guaranteed</a:t>
            </a:r>
          </a:p>
        </p:txBody>
      </p:sp>
      <p:sp>
        <p:nvSpPr>
          <p:cNvPr id="7" name="TextBox 6"/>
          <p:cNvSpPr txBox="1"/>
          <p:nvPr/>
        </p:nvSpPr>
        <p:spPr>
          <a:xfrm>
            <a:off x="502920" y="1709928"/>
            <a:ext cx="5486400" cy="594360"/>
          </a:xfrm>
          <a:prstGeom prst="rect">
            <a:avLst/>
          </a:prstGeom>
          <a:noFill/>
        </p:spPr>
        <p:txBody>
          <a:bodyPr wrap="square">
            <a:spAutoFit/>
          </a:bodyPr>
          <a:lstStyle/>
          <a:p>
            <a:pPr algn="l"/>
            <a:r>
              <a:rPr sz="1300" b="0" i="0">
                <a:solidFill>
                  <a:srgbClr val="1C1C1C"/>
                </a:solidFill>
              </a:rPr>
              <a:t>Python's heap compares by object identity on priority ties.
Arrival order within a level is not preserved.</a:t>
            </a:r>
          </a:p>
        </p:txBody>
      </p:sp>
      <p:sp>
        <p:nvSpPr>
          <p:cNvPr id="8" name="Rectangle 7"/>
          <p:cNvSpPr/>
          <p:nvPr/>
        </p:nvSpPr>
        <p:spPr>
          <a:xfrm>
            <a:off x="6217920" y="1307592"/>
            <a:ext cx="5394960" cy="100584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344168"/>
            <a:ext cx="5120640" cy="274320"/>
          </a:xfrm>
          <a:prstGeom prst="rect">
            <a:avLst/>
          </a:prstGeom>
          <a:noFill/>
        </p:spPr>
        <p:txBody>
          <a:bodyPr wrap="square">
            <a:spAutoFit/>
          </a:bodyPr>
          <a:lstStyle/>
          <a:p>
            <a:pPr algn="l"/>
            <a:r>
              <a:rPr sz="1200" b="1" i="0">
                <a:solidFill>
                  <a:srgbClr val="2E6DA4"/>
                </a:solidFill>
              </a:rPr>
              <a:t>Proposed fix:</a:t>
            </a:r>
          </a:p>
        </p:txBody>
      </p:sp>
      <p:sp>
        <p:nvSpPr>
          <p:cNvPr id="10" name="TextBox 9"/>
          <p:cNvSpPr txBox="1"/>
          <p:nvPr/>
        </p:nvSpPr>
        <p:spPr>
          <a:xfrm>
            <a:off x="6355080" y="1618488"/>
            <a:ext cx="5120640" cy="594360"/>
          </a:xfrm>
          <a:prstGeom prst="rect">
            <a:avLst/>
          </a:prstGeom>
          <a:noFill/>
        </p:spPr>
        <p:txBody>
          <a:bodyPr wrap="square">
            <a:spAutoFit/>
          </a:bodyPr>
          <a:lstStyle/>
          <a:p>
            <a:pPr algn="l"/>
            <a:r>
              <a:rPr sz="1300" b="0" i="0">
                <a:solidFill>
                  <a:srgbClr val="1C1C1C"/>
                </a:solidFill>
              </a:rPr>
              <a:t>Fix: add sequence-number tiebreaker in heap tuple: (priority, seq, call)</a:t>
            </a:r>
          </a:p>
        </p:txBody>
      </p:sp>
      <p:sp>
        <p:nvSpPr>
          <p:cNvPr id="11" name="Rectangle 10"/>
          <p:cNvSpPr/>
          <p:nvPr/>
        </p:nvSpPr>
        <p:spPr>
          <a:xfrm>
            <a:off x="365760" y="2560320"/>
            <a:ext cx="11430000"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606039"/>
            <a:ext cx="5029200" cy="457200"/>
          </a:xfrm>
          <a:prstGeom prst="rect">
            <a:avLst/>
          </a:prstGeom>
          <a:noFill/>
        </p:spPr>
        <p:txBody>
          <a:bodyPr wrap="square">
            <a:spAutoFit/>
          </a:bodyPr>
          <a:lstStyle/>
          <a:p>
            <a:pPr algn="l"/>
            <a:r>
              <a:rPr sz="1500" b="1" i="0">
                <a:solidFill>
                  <a:srgbClr val="1A3A5C"/>
                </a:solidFill>
              </a:rPr>
              <a:t>2. K-D tree rebuilt from scratch each dispatch</a:t>
            </a:r>
          </a:p>
        </p:txBody>
      </p:sp>
      <p:sp>
        <p:nvSpPr>
          <p:cNvPr id="13" name="TextBox 12"/>
          <p:cNvSpPr txBox="1"/>
          <p:nvPr/>
        </p:nvSpPr>
        <p:spPr>
          <a:xfrm>
            <a:off x="502920" y="3035808"/>
            <a:ext cx="5486400" cy="594360"/>
          </a:xfrm>
          <a:prstGeom prst="rect">
            <a:avLst/>
          </a:prstGeom>
          <a:noFill/>
        </p:spPr>
        <p:txBody>
          <a:bodyPr wrap="square">
            <a:spAutoFit/>
          </a:bodyPr>
          <a:lstStyle/>
          <a:p>
            <a:pPr algn="l"/>
            <a:r>
              <a:rPr sz="1300" b="0" i="0">
                <a:solidFill>
                  <a:srgbClr val="1C1C1C"/>
                </a:solidFill>
              </a:rPr>
              <a:t>O(n log n) per dispatch. Dominates Phase 3 time at large n.</a:t>
            </a:r>
          </a:p>
        </p:txBody>
      </p:sp>
      <p:sp>
        <p:nvSpPr>
          <p:cNvPr id="14" name="Rectangle 13"/>
          <p:cNvSpPr/>
          <p:nvPr/>
        </p:nvSpPr>
        <p:spPr>
          <a:xfrm>
            <a:off x="6217920" y="2633472"/>
            <a:ext cx="5394960" cy="100584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2670048"/>
            <a:ext cx="5120640" cy="274320"/>
          </a:xfrm>
          <a:prstGeom prst="rect">
            <a:avLst/>
          </a:prstGeom>
          <a:noFill/>
        </p:spPr>
        <p:txBody>
          <a:bodyPr wrap="square">
            <a:spAutoFit/>
          </a:bodyPr>
          <a:lstStyle/>
          <a:p>
            <a:pPr algn="l"/>
            <a:r>
              <a:rPr sz="1200" b="1" i="0">
                <a:solidFill>
                  <a:srgbClr val="2E6DA4"/>
                </a:solidFill>
              </a:rPr>
              <a:t>Proposed fix:</a:t>
            </a:r>
          </a:p>
        </p:txBody>
      </p:sp>
      <p:sp>
        <p:nvSpPr>
          <p:cNvPr id="16" name="TextBox 15"/>
          <p:cNvSpPr txBox="1"/>
          <p:nvPr/>
        </p:nvSpPr>
        <p:spPr>
          <a:xfrm>
            <a:off x="6355080" y="2944368"/>
            <a:ext cx="5120640" cy="594360"/>
          </a:xfrm>
          <a:prstGeom prst="rect">
            <a:avLst/>
          </a:prstGeom>
          <a:noFill/>
        </p:spPr>
        <p:txBody>
          <a:bodyPr wrap="square">
            <a:spAutoFit/>
          </a:bodyPr>
          <a:lstStyle/>
          <a:p>
            <a:pPr algn="l"/>
            <a:r>
              <a:rPr sz="1300" b="0" i="0">
                <a:solidFill>
                  <a:srgbClr val="1C1C1C"/>
                </a:solidFill>
              </a:rPr>
              <a:t>Fix: lazy deletion (mark dispatched nodes inactive) + periodic full rebuild</a:t>
            </a:r>
          </a:p>
        </p:txBody>
      </p:sp>
      <p:sp>
        <p:nvSpPr>
          <p:cNvPr id="17" name="Rectangle 16"/>
          <p:cNvSpPr/>
          <p:nvPr/>
        </p:nvSpPr>
        <p:spPr>
          <a:xfrm>
            <a:off x="365760" y="3886200"/>
            <a:ext cx="11430000"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3931920"/>
            <a:ext cx="5029200" cy="457200"/>
          </a:xfrm>
          <a:prstGeom prst="rect">
            <a:avLst/>
          </a:prstGeom>
          <a:noFill/>
        </p:spPr>
        <p:txBody>
          <a:bodyPr wrap="square">
            <a:spAutoFit/>
          </a:bodyPr>
          <a:lstStyle/>
          <a:p>
            <a:pPr algn="l"/>
            <a:r>
              <a:rPr sz="1500" b="1" i="0">
                <a:solidFill>
                  <a:srgbClr val="1A3A5C"/>
                </a:solidFill>
              </a:rPr>
              <a:t>3. k=3 not calibrated for real networks</a:t>
            </a:r>
          </a:p>
        </p:txBody>
      </p:sp>
      <p:sp>
        <p:nvSpPr>
          <p:cNvPr id="19" name="TextBox 18"/>
          <p:cNvSpPr txBox="1"/>
          <p:nvPr/>
        </p:nvSpPr>
        <p:spPr>
          <a:xfrm>
            <a:off x="502920" y="4361688"/>
            <a:ext cx="5486400" cy="594360"/>
          </a:xfrm>
          <a:prstGeom prst="rect">
            <a:avLst/>
          </a:prstGeom>
          <a:noFill/>
        </p:spPr>
        <p:txBody>
          <a:bodyPr wrap="square">
            <a:spAutoFit/>
          </a:bodyPr>
          <a:lstStyle/>
          <a:p>
            <a:pPr algn="l"/>
            <a:r>
              <a:rPr sz="1300" b="0" i="0">
                <a:solidFill>
                  <a:srgbClr val="1C1C1C"/>
                </a:solidFill>
              </a:rPr>
              <a:t>Validated on a small synthetic city. Rivers, highways, closures could break the Euclidean-nearest assumption.</a:t>
            </a:r>
          </a:p>
        </p:txBody>
      </p:sp>
      <p:sp>
        <p:nvSpPr>
          <p:cNvPr id="20" name="Rectangle 19"/>
          <p:cNvSpPr/>
          <p:nvPr/>
        </p:nvSpPr>
        <p:spPr>
          <a:xfrm>
            <a:off x="6217920" y="3959352"/>
            <a:ext cx="5394960" cy="100584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995928"/>
            <a:ext cx="5120640" cy="274320"/>
          </a:xfrm>
          <a:prstGeom prst="rect">
            <a:avLst/>
          </a:prstGeom>
          <a:noFill/>
        </p:spPr>
        <p:txBody>
          <a:bodyPr wrap="square">
            <a:spAutoFit/>
          </a:bodyPr>
          <a:lstStyle/>
          <a:p>
            <a:pPr algn="l"/>
            <a:r>
              <a:rPr sz="1200" b="1" i="0">
                <a:solidFill>
                  <a:srgbClr val="2E6DA4"/>
                </a:solidFill>
              </a:rPr>
              <a:t>Proposed fix:</a:t>
            </a:r>
          </a:p>
        </p:txBody>
      </p:sp>
      <p:sp>
        <p:nvSpPr>
          <p:cNvPr id="22" name="TextBox 21"/>
          <p:cNvSpPr txBox="1"/>
          <p:nvPr/>
        </p:nvSpPr>
        <p:spPr>
          <a:xfrm>
            <a:off x="6355080" y="4270248"/>
            <a:ext cx="5120640" cy="594360"/>
          </a:xfrm>
          <a:prstGeom prst="rect">
            <a:avLst/>
          </a:prstGeom>
          <a:noFill/>
        </p:spPr>
        <p:txBody>
          <a:bodyPr wrap="square">
            <a:spAutoFit/>
          </a:bodyPr>
          <a:lstStyle/>
          <a:p>
            <a:pPr algn="l"/>
            <a:r>
              <a:rPr sz="1300" b="0" i="0">
                <a:solidFill>
                  <a:srgbClr val="1C1C1C"/>
                </a:solidFill>
              </a:rPr>
              <a:t>Fix: calibrate k against historical dispatch data; or use road-network distance as spatial index metric</a:t>
            </a:r>
          </a:p>
        </p:txBody>
      </p:sp>
      <p:sp>
        <p:nvSpPr>
          <p:cNvPr id="23" name="Rectangle 22"/>
          <p:cNvSpPr/>
          <p:nvPr/>
        </p:nvSpPr>
        <p:spPr>
          <a:xfrm>
            <a:off x="365760" y="5212079"/>
            <a:ext cx="11430000"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5257799"/>
            <a:ext cx="5029200" cy="457200"/>
          </a:xfrm>
          <a:prstGeom prst="rect">
            <a:avLst/>
          </a:prstGeom>
          <a:noFill/>
        </p:spPr>
        <p:txBody>
          <a:bodyPr wrap="square">
            <a:spAutoFit/>
          </a:bodyPr>
          <a:lstStyle/>
          <a:p>
            <a:pPr algn="l"/>
            <a:r>
              <a:rPr sz="1500" b="1" i="0">
                <a:solidFill>
                  <a:srgbClr val="1A3A5C"/>
                </a:solidFill>
              </a:rPr>
              <a:t>4. Dijkstra re-run from scratch on each dispatch</a:t>
            </a:r>
          </a:p>
        </p:txBody>
      </p:sp>
      <p:sp>
        <p:nvSpPr>
          <p:cNvPr id="25" name="TextBox 24"/>
          <p:cNvSpPr txBox="1"/>
          <p:nvPr/>
        </p:nvSpPr>
        <p:spPr>
          <a:xfrm>
            <a:off x="502920" y="5687567"/>
            <a:ext cx="5486400" cy="594360"/>
          </a:xfrm>
          <a:prstGeom prst="rect">
            <a:avLst/>
          </a:prstGeom>
          <a:noFill/>
        </p:spPr>
        <p:txBody>
          <a:bodyPr wrap="square">
            <a:spAutoFit/>
          </a:bodyPr>
          <a:lstStyle/>
          <a:p>
            <a:pPr algn="l"/>
            <a:r>
              <a:rPr sz="1300" b="0" i="0">
                <a:solidFill>
                  <a:srgbClr val="1C1C1C"/>
                </a:solidFill>
              </a:rPr>
              <a:t>Fine when weight updates are rare. Expensive if real-time traffic feeds update many edges per minute.</a:t>
            </a:r>
          </a:p>
        </p:txBody>
      </p:sp>
      <p:sp>
        <p:nvSpPr>
          <p:cNvPr id="26" name="Rectangle 25"/>
          <p:cNvSpPr/>
          <p:nvPr/>
        </p:nvSpPr>
        <p:spPr>
          <a:xfrm>
            <a:off x="6217920" y="5285231"/>
            <a:ext cx="5394960" cy="100584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5321807"/>
            <a:ext cx="5120640" cy="274320"/>
          </a:xfrm>
          <a:prstGeom prst="rect">
            <a:avLst/>
          </a:prstGeom>
          <a:noFill/>
        </p:spPr>
        <p:txBody>
          <a:bodyPr wrap="square">
            <a:spAutoFit/>
          </a:bodyPr>
          <a:lstStyle/>
          <a:p>
            <a:pPr algn="l"/>
            <a:r>
              <a:rPr sz="1200" b="1" i="0">
                <a:solidFill>
                  <a:srgbClr val="2E6DA4"/>
                </a:solidFill>
              </a:rPr>
              <a:t>Proposed fix:</a:t>
            </a:r>
          </a:p>
        </p:txBody>
      </p:sp>
      <p:sp>
        <p:nvSpPr>
          <p:cNvPr id="28" name="TextBox 27"/>
          <p:cNvSpPr txBox="1"/>
          <p:nvPr/>
        </p:nvSpPr>
        <p:spPr>
          <a:xfrm>
            <a:off x="6355080" y="5596127"/>
            <a:ext cx="5120640" cy="594360"/>
          </a:xfrm>
          <a:prstGeom prst="rect">
            <a:avLst/>
          </a:prstGeom>
          <a:noFill/>
        </p:spPr>
        <p:txBody>
          <a:bodyPr wrap="square">
            <a:spAutoFit/>
          </a:bodyPr>
          <a:lstStyle/>
          <a:p>
            <a:pPr algn="l"/>
            <a:r>
              <a:rPr sz="1300" b="0" i="0">
                <a:solidFill>
                  <a:srgbClr val="1C1C1C"/>
                </a:solidFill>
              </a:rPr>
              <a:t>Fix: incremental shortest-path (LPA*) per Ramalingam &amp; Reps (1996)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9144000" cy="594360"/>
          </a:xfrm>
          <a:prstGeom prst="rect">
            <a:avLst/>
          </a:prstGeom>
          <a:noFill/>
        </p:spPr>
        <p:txBody>
          <a:bodyPr wrap="square">
            <a:spAutoFit/>
          </a:bodyPr>
          <a:lstStyle/>
          <a:p>
            <a:pPr algn="l"/>
            <a:r>
              <a:rPr sz="2600" b="1" i="0">
                <a:solidFill>
                  <a:srgbClr val="FFFFFF"/>
                </a:solidFill>
              </a:rPr>
              <a:t>Future Directions</a:t>
            </a:r>
          </a:p>
        </p:txBody>
      </p:sp>
      <p:sp>
        <p:nvSpPr>
          <p:cNvPr id="5" name="Rectangle 4"/>
          <p:cNvSpPr/>
          <p:nvPr/>
        </p:nvSpPr>
        <p:spPr>
          <a:xfrm>
            <a:off x="365760" y="1234440"/>
            <a:ext cx="3657600" cy="2194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325880"/>
            <a:ext cx="594360" cy="594360"/>
          </a:xfrm>
          <a:prstGeom prst="rect">
            <a:avLst/>
          </a:prstGeom>
          <a:noFill/>
        </p:spPr>
        <p:txBody>
          <a:bodyPr wrap="square">
            <a:spAutoFit/>
          </a:bodyPr>
          <a:lstStyle/>
          <a:p>
            <a:pPr algn="ctr"/>
            <a:r>
              <a:rPr sz="2000" b="1" i="0">
                <a:solidFill>
                  <a:srgbClr val="E86B2C"/>
                </a:solidFill>
              </a:rPr>
              <a:t>01</a:t>
            </a:r>
          </a:p>
        </p:txBody>
      </p:sp>
      <p:sp>
        <p:nvSpPr>
          <p:cNvPr id="7" name="TextBox 6"/>
          <p:cNvSpPr txBox="1"/>
          <p:nvPr/>
        </p:nvSpPr>
        <p:spPr>
          <a:xfrm>
            <a:off x="502920" y="1325880"/>
            <a:ext cx="3383280" cy="502920"/>
          </a:xfrm>
          <a:prstGeom prst="rect">
            <a:avLst/>
          </a:prstGeom>
          <a:noFill/>
        </p:spPr>
        <p:txBody>
          <a:bodyPr wrap="square">
            <a:spAutoFit/>
          </a:bodyPr>
          <a:lstStyle/>
          <a:p>
            <a:pPr algn="l"/>
            <a:r>
              <a:rPr sz="1500" b="1" i="0">
                <a:solidFill>
                  <a:srgbClr val="FFFFFF"/>
                </a:solidFill>
              </a:rPr>
              <a:t>     Real Road Network</a:t>
            </a:r>
          </a:p>
        </p:txBody>
      </p:sp>
      <p:sp>
        <p:nvSpPr>
          <p:cNvPr id="8" name="TextBox 7"/>
          <p:cNvSpPr txBox="1"/>
          <p:nvPr/>
        </p:nvSpPr>
        <p:spPr>
          <a:xfrm>
            <a:off x="502920" y="1892808"/>
            <a:ext cx="3383280" cy="1371600"/>
          </a:xfrm>
          <a:prstGeom prst="rect">
            <a:avLst/>
          </a:prstGeom>
          <a:noFill/>
        </p:spPr>
        <p:txBody>
          <a:bodyPr wrap="square">
            <a:spAutoFit/>
          </a:bodyPr>
          <a:lstStyle/>
          <a:p>
            <a:pPr algn="l"/>
            <a:r>
              <a:rPr sz="1300" b="0" i="0">
                <a:solidFill>
                  <a:srgbClr val="CCDDFF"/>
                </a:solidFill>
              </a:rPr>
              <a:t>Replace synthetic grid with OpenStreetMap data.
Add one-way streets, turn restrictions, variable capacities.</a:t>
            </a:r>
          </a:p>
        </p:txBody>
      </p:sp>
      <p:sp>
        <p:nvSpPr>
          <p:cNvPr id="9" name="Rectangle 8"/>
          <p:cNvSpPr/>
          <p:nvPr/>
        </p:nvSpPr>
        <p:spPr>
          <a:xfrm>
            <a:off x="4297680" y="1234440"/>
            <a:ext cx="3657600" cy="2194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40" y="1325880"/>
            <a:ext cx="594360" cy="594360"/>
          </a:xfrm>
          <a:prstGeom prst="rect">
            <a:avLst/>
          </a:prstGeom>
          <a:noFill/>
        </p:spPr>
        <p:txBody>
          <a:bodyPr wrap="square">
            <a:spAutoFit/>
          </a:bodyPr>
          <a:lstStyle/>
          <a:p>
            <a:pPr algn="ctr"/>
            <a:r>
              <a:rPr sz="2000" b="1" i="0">
                <a:solidFill>
                  <a:srgbClr val="E86B2C"/>
                </a:solidFill>
              </a:rPr>
              <a:t>02</a:t>
            </a:r>
          </a:p>
        </p:txBody>
      </p:sp>
      <p:sp>
        <p:nvSpPr>
          <p:cNvPr id="11" name="TextBox 10"/>
          <p:cNvSpPr txBox="1"/>
          <p:nvPr/>
        </p:nvSpPr>
        <p:spPr>
          <a:xfrm>
            <a:off x="4434840" y="1325880"/>
            <a:ext cx="3383280" cy="502920"/>
          </a:xfrm>
          <a:prstGeom prst="rect">
            <a:avLst/>
          </a:prstGeom>
          <a:noFill/>
        </p:spPr>
        <p:txBody>
          <a:bodyPr wrap="square">
            <a:spAutoFit/>
          </a:bodyPr>
          <a:lstStyle/>
          <a:p>
            <a:pPr algn="l"/>
            <a:r>
              <a:rPr sz="1500" b="1" i="0">
                <a:solidFill>
                  <a:srgbClr val="FFFFFF"/>
                </a:solidFill>
              </a:rPr>
              <a:t>     Contraction Hierarchies</a:t>
            </a:r>
          </a:p>
        </p:txBody>
      </p:sp>
      <p:sp>
        <p:nvSpPr>
          <p:cNvPr id="12" name="TextBox 11"/>
          <p:cNvSpPr txBox="1"/>
          <p:nvPr/>
        </p:nvSpPr>
        <p:spPr>
          <a:xfrm>
            <a:off x="4434840" y="1892808"/>
            <a:ext cx="3383280" cy="1371600"/>
          </a:xfrm>
          <a:prstGeom prst="rect">
            <a:avLst/>
          </a:prstGeom>
          <a:noFill/>
        </p:spPr>
        <p:txBody>
          <a:bodyPr wrap="square">
            <a:spAutoFit/>
          </a:bodyPr>
          <a:lstStyle/>
          <a:p>
            <a:pPr algn="l"/>
            <a:r>
              <a:rPr sz="1300" b="0" i="0">
                <a:solidFill>
                  <a:srgbClr val="CCDDFF"/>
                </a:solidFill>
              </a:rPr>
              <a:t>Geisberger et al. (2008): reduce Dijkstra from O((V+E) log V)
to sub-millisecond on graphs with millions of nodes.</a:t>
            </a:r>
          </a:p>
        </p:txBody>
      </p:sp>
      <p:sp>
        <p:nvSpPr>
          <p:cNvPr id="13" name="Rectangle 12"/>
          <p:cNvSpPr/>
          <p:nvPr/>
        </p:nvSpPr>
        <p:spPr>
          <a:xfrm>
            <a:off x="8229600" y="1234440"/>
            <a:ext cx="3657600" cy="2194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6760" y="1325880"/>
            <a:ext cx="594360" cy="594360"/>
          </a:xfrm>
          <a:prstGeom prst="rect">
            <a:avLst/>
          </a:prstGeom>
          <a:noFill/>
        </p:spPr>
        <p:txBody>
          <a:bodyPr wrap="square">
            <a:spAutoFit/>
          </a:bodyPr>
          <a:lstStyle/>
          <a:p>
            <a:pPr algn="ctr"/>
            <a:r>
              <a:rPr sz="2000" b="1" i="0">
                <a:solidFill>
                  <a:srgbClr val="E86B2C"/>
                </a:solidFill>
              </a:rPr>
              <a:t>03</a:t>
            </a:r>
          </a:p>
        </p:txBody>
      </p:sp>
      <p:sp>
        <p:nvSpPr>
          <p:cNvPr id="15" name="TextBox 14"/>
          <p:cNvSpPr txBox="1"/>
          <p:nvPr/>
        </p:nvSpPr>
        <p:spPr>
          <a:xfrm>
            <a:off x="8366760" y="1325880"/>
            <a:ext cx="3383280" cy="502920"/>
          </a:xfrm>
          <a:prstGeom prst="rect">
            <a:avLst/>
          </a:prstGeom>
          <a:noFill/>
        </p:spPr>
        <p:txBody>
          <a:bodyPr wrap="square">
            <a:spAutoFit/>
          </a:bodyPr>
          <a:lstStyle/>
          <a:p>
            <a:pPr algn="l"/>
            <a:r>
              <a:rPr sz="1500" b="1" i="0">
                <a:solidFill>
                  <a:srgbClr val="FFFFFF"/>
                </a:solidFill>
              </a:rPr>
              <a:t>     Dynamic Priority Scoring</a:t>
            </a:r>
          </a:p>
        </p:txBody>
      </p:sp>
      <p:sp>
        <p:nvSpPr>
          <p:cNvPr id="16" name="TextBox 15"/>
          <p:cNvSpPr txBox="1"/>
          <p:nvPr/>
        </p:nvSpPr>
        <p:spPr>
          <a:xfrm>
            <a:off x="8366760" y="1892808"/>
            <a:ext cx="3383280" cy="1371600"/>
          </a:xfrm>
          <a:prstGeom prst="rect">
            <a:avLst/>
          </a:prstGeom>
          <a:noFill/>
        </p:spPr>
        <p:txBody>
          <a:bodyPr wrap="square">
            <a:spAutoFit/>
          </a:bodyPr>
          <a:lstStyle/>
          <a:p>
            <a:pPr algn="l"/>
            <a:r>
              <a:rPr sz="1300" b="0" i="0">
                <a:solidFill>
                  <a:srgbClr val="CCDDFF"/>
                </a:solidFill>
              </a:rPr>
              <a:t>Replace static 1/2/3 levels with a continuous urgency score
that decays over wait time (prevents starvation).</a:t>
            </a:r>
          </a:p>
        </p:txBody>
      </p:sp>
      <p:sp>
        <p:nvSpPr>
          <p:cNvPr id="17" name="Rectangle 16"/>
          <p:cNvSpPr/>
          <p:nvPr/>
        </p:nvSpPr>
        <p:spPr>
          <a:xfrm>
            <a:off x="365760" y="3703320"/>
            <a:ext cx="3657600" cy="2194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3794760"/>
            <a:ext cx="594360" cy="594360"/>
          </a:xfrm>
          <a:prstGeom prst="rect">
            <a:avLst/>
          </a:prstGeom>
          <a:noFill/>
        </p:spPr>
        <p:txBody>
          <a:bodyPr wrap="square">
            <a:spAutoFit/>
          </a:bodyPr>
          <a:lstStyle/>
          <a:p>
            <a:pPr algn="ctr"/>
            <a:r>
              <a:rPr sz="2000" b="1" i="0">
                <a:solidFill>
                  <a:srgbClr val="E86B2C"/>
                </a:solidFill>
              </a:rPr>
              <a:t>04</a:t>
            </a:r>
          </a:p>
        </p:txBody>
      </p:sp>
      <p:sp>
        <p:nvSpPr>
          <p:cNvPr id="19" name="TextBox 18"/>
          <p:cNvSpPr txBox="1"/>
          <p:nvPr/>
        </p:nvSpPr>
        <p:spPr>
          <a:xfrm>
            <a:off x="502920" y="3794760"/>
            <a:ext cx="3383280" cy="502920"/>
          </a:xfrm>
          <a:prstGeom prst="rect">
            <a:avLst/>
          </a:prstGeom>
          <a:noFill/>
        </p:spPr>
        <p:txBody>
          <a:bodyPr wrap="square">
            <a:spAutoFit/>
          </a:bodyPr>
          <a:lstStyle/>
          <a:p>
            <a:pPr algn="l"/>
            <a:r>
              <a:rPr sz="1500" b="1" i="0">
                <a:solidFill>
                  <a:srgbClr val="FFFFFF"/>
                </a:solidFill>
              </a:rPr>
              <a:t>     Multi-unit Dispatch</a:t>
            </a:r>
          </a:p>
        </p:txBody>
      </p:sp>
      <p:sp>
        <p:nvSpPr>
          <p:cNvPr id="20" name="TextBox 19"/>
          <p:cNvSpPr txBox="1"/>
          <p:nvPr/>
        </p:nvSpPr>
        <p:spPr>
          <a:xfrm>
            <a:off x="502920" y="4361688"/>
            <a:ext cx="3383280" cy="1371600"/>
          </a:xfrm>
          <a:prstGeom prst="rect">
            <a:avLst/>
          </a:prstGeom>
          <a:noFill/>
        </p:spPr>
        <p:txBody>
          <a:bodyPr wrap="square">
            <a:spAutoFit/>
          </a:bodyPr>
          <a:lstStyle/>
          <a:p>
            <a:pPr algn="l"/>
            <a:r>
              <a:rPr sz="1300" b="0" i="0">
                <a:solidFill>
                  <a:srgbClr val="CCDDFF"/>
                </a:solidFill>
              </a:rPr>
              <a:t>Assign 2+ units per call based on incident type.
Makes nearest-unit search a k-assignment problem.</a:t>
            </a:r>
          </a:p>
        </p:txBody>
      </p:sp>
      <p:sp>
        <p:nvSpPr>
          <p:cNvPr id="21" name="Rectangle 20"/>
          <p:cNvSpPr/>
          <p:nvPr/>
        </p:nvSpPr>
        <p:spPr>
          <a:xfrm>
            <a:off x="4297680" y="3703320"/>
            <a:ext cx="3657600" cy="219456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3794760"/>
            <a:ext cx="594360" cy="594360"/>
          </a:xfrm>
          <a:prstGeom prst="rect">
            <a:avLst/>
          </a:prstGeom>
          <a:noFill/>
        </p:spPr>
        <p:txBody>
          <a:bodyPr wrap="square">
            <a:spAutoFit/>
          </a:bodyPr>
          <a:lstStyle/>
          <a:p>
            <a:pPr algn="ctr"/>
            <a:r>
              <a:rPr sz="2000" b="1" i="0">
                <a:solidFill>
                  <a:srgbClr val="E86B2C"/>
                </a:solidFill>
              </a:rPr>
              <a:t>05</a:t>
            </a:r>
          </a:p>
        </p:txBody>
      </p:sp>
      <p:sp>
        <p:nvSpPr>
          <p:cNvPr id="23" name="TextBox 22"/>
          <p:cNvSpPr txBox="1"/>
          <p:nvPr/>
        </p:nvSpPr>
        <p:spPr>
          <a:xfrm>
            <a:off x="4434840" y="3794760"/>
            <a:ext cx="3383280" cy="502920"/>
          </a:xfrm>
          <a:prstGeom prst="rect">
            <a:avLst/>
          </a:prstGeom>
          <a:noFill/>
        </p:spPr>
        <p:txBody>
          <a:bodyPr wrap="square">
            <a:spAutoFit/>
          </a:bodyPr>
          <a:lstStyle/>
          <a:p>
            <a:pPr algn="l"/>
            <a:r>
              <a:rPr sz="1500" b="1" i="0">
                <a:solidFill>
                  <a:srgbClr val="FFFFFF"/>
                </a:solidFill>
              </a:rPr>
              <a:t>     Predictive Pre-positioning</a:t>
            </a:r>
          </a:p>
        </p:txBody>
      </p:sp>
      <p:sp>
        <p:nvSpPr>
          <p:cNvPr id="24" name="TextBox 23"/>
          <p:cNvSpPr txBox="1"/>
          <p:nvPr/>
        </p:nvSpPr>
        <p:spPr>
          <a:xfrm>
            <a:off x="4434840" y="4361688"/>
            <a:ext cx="3383280" cy="1371600"/>
          </a:xfrm>
          <a:prstGeom prst="rect">
            <a:avLst/>
          </a:prstGeom>
          <a:noFill/>
        </p:spPr>
        <p:txBody>
          <a:bodyPr wrap="square">
            <a:spAutoFit/>
          </a:bodyPr>
          <a:lstStyle/>
          <a:p>
            <a:pPr algn="l"/>
            <a:r>
              <a:rPr sz="1300" b="0" i="0">
                <a:solidFill>
                  <a:srgbClr val="CCDDFF"/>
                </a:solidFill>
              </a:rPr>
              <a:t>Move idle units toward demand centers using historical patterns.
Requires stochastic optimization or ML.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10515600" cy="685800"/>
          </a:xfrm>
          <a:prstGeom prst="rect">
            <a:avLst/>
          </a:prstGeom>
          <a:noFill/>
        </p:spPr>
        <p:txBody>
          <a:bodyPr wrap="square">
            <a:spAutoFit/>
          </a:bodyPr>
          <a:lstStyle/>
          <a:p>
            <a:pPr algn="ctr"/>
            <a:r>
              <a:rPr sz="3400" b="1" i="0">
                <a:solidFill>
                  <a:srgbClr val="FFFFFF"/>
                </a:solidFill>
              </a:rPr>
              <a:t>Conclusion</a:t>
            </a:r>
          </a:p>
        </p:txBody>
      </p:sp>
      <p:sp>
        <p:nvSpPr>
          <p:cNvPr id="4" name="Rectangle 3"/>
          <p:cNvSpPr/>
          <p:nvPr/>
        </p:nvSpPr>
        <p:spPr>
          <a:xfrm>
            <a:off x="274320" y="1371600"/>
            <a:ext cx="11640312" cy="27432"/>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10515600" cy="2743200"/>
          </a:xfrm>
          <a:prstGeom prst="rect">
            <a:avLst/>
          </a:prstGeom>
          <a:noFill/>
        </p:spPr>
        <p:txBody>
          <a:bodyPr wrap="square">
            <a:spAutoFit/>
          </a:bodyPr>
          <a:lstStyle/>
          <a:p>
            <a:pPr>
              <a:spcBef>
                <a:spcPts val="400"/>
              </a:spcBef>
            </a:pPr>
            <a:r>
              <a:rPr sz="1800">
                <a:solidFill>
                  <a:srgbClr val="FFFFFF"/>
                </a:solidFill>
              </a:rPr>
              <a:t>Built a functional real-time emergency dispatch system from first principles</a:t>
            </a:r>
          </a:p>
          <a:p>
            <a:pPr>
              <a:spcBef>
                <a:spcPts val="400"/>
              </a:spcBef>
            </a:pPr>
            <a:r>
              <a:rPr sz="1800">
                <a:solidFill>
                  <a:srgbClr val="FFFFFF"/>
                </a:solidFill>
              </a:rPr>
              <a:t>Three core data structures: min-heap, adjacency-list graph, hash table</a:t>
            </a:r>
          </a:p>
          <a:p>
            <a:pPr>
              <a:spcBef>
                <a:spcPts val="400"/>
              </a:spcBef>
            </a:pPr>
            <a:r>
              <a:rPr sz="1800">
                <a:solidFill>
                  <a:srgbClr val="FFFFFF"/>
                </a:solidFill>
              </a:rPr>
              <a:t>Phase 2 added decrease_key for re-triage via custom heap + index_map</a:t>
            </a:r>
          </a:p>
          <a:p>
            <a:pPr>
              <a:spcBef>
                <a:spcPts val="400"/>
              </a:spcBef>
            </a:pPr>
            <a:r>
              <a:rPr sz="1800">
                <a:solidFill>
                  <a:srgbClr val="FFFFFF"/>
                </a:solidFill>
              </a:rPr>
              <a:t>Phase 3 added k-d tree spatial index: 105x speedup at fleet size 200</a:t>
            </a:r>
          </a:p>
          <a:p>
            <a:pPr>
              <a:spcBef>
                <a:spcPts val="400"/>
              </a:spcBef>
            </a:pPr>
            <a:r>
              <a:rPr sz="1800">
                <a:solidFill>
                  <a:srgbClr val="FFFFFF"/>
                </a:solidFill>
              </a:rPr>
              <a:t>Validated on 14 tests including a 100-call stress test</a:t>
            </a:r>
          </a:p>
        </p:txBody>
      </p:sp>
      <p:sp>
        <p:nvSpPr>
          <p:cNvPr id="6" name="Rectangle 5"/>
          <p:cNvSpPr/>
          <p:nvPr/>
        </p:nvSpPr>
        <p:spPr>
          <a:xfrm>
            <a:off x="1097280" y="4572000"/>
            <a:ext cx="2926080" cy="1645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4663440"/>
            <a:ext cx="2926080" cy="777240"/>
          </a:xfrm>
          <a:prstGeom prst="rect">
            <a:avLst/>
          </a:prstGeom>
          <a:noFill/>
        </p:spPr>
        <p:txBody>
          <a:bodyPr wrap="square">
            <a:spAutoFit/>
          </a:bodyPr>
          <a:lstStyle/>
          <a:p>
            <a:pPr algn="ctr"/>
            <a:r>
              <a:rPr sz="2800" b="1" i="0">
                <a:solidFill>
                  <a:srgbClr val="E86B2C"/>
                </a:solidFill>
              </a:rPr>
              <a:t>105x</a:t>
            </a:r>
          </a:p>
        </p:txBody>
      </p:sp>
      <p:sp>
        <p:nvSpPr>
          <p:cNvPr id="8" name="TextBox 7"/>
          <p:cNvSpPr txBox="1"/>
          <p:nvPr/>
        </p:nvSpPr>
        <p:spPr>
          <a:xfrm>
            <a:off x="1097280" y="5394960"/>
            <a:ext cx="2926080" cy="640080"/>
          </a:xfrm>
          <a:prstGeom prst="rect">
            <a:avLst/>
          </a:prstGeom>
          <a:noFill/>
        </p:spPr>
        <p:txBody>
          <a:bodyPr wrap="square">
            <a:spAutoFit/>
          </a:bodyPr>
          <a:lstStyle/>
          <a:p>
            <a:pPr algn="ctr"/>
            <a:r>
              <a:rPr sz="1400" b="0" i="0">
                <a:solidFill>
                  <a:srgbClr val="FFFFFF"/>
                </a:solidFill>
              </a:rPr>
              <a:t>speedup
(fleet=200)</a:t>
            </a:r>
          </a:p>
        </p:txBody>
      </p:sp>
      <p:sp>
        <p:nvSpPr>
          <p:cNvPr id="9" name="Rectangle 8"/>
          <p:cNvSpPr/>
          <p:nvPr/>
        </p:nvSpPr>
        <p:spPr>
          <a:xfrm>
            <a:off x="4572000" y="4572000"/>
            <a:ext cx="2926080" cy="1645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4663440"/>
            <a:ext cx="2926080" cy="777240"/>
          </a:xfrm>
          <a:prstGeom prst="rect">
            <a:avLst/>
          </a:prstGeom>
          <a:noFill/>
        </p:spPr>
        <p:txBody>
          <a:bodyPr wrap="square">
            <a:spAutoFit/>
          </a:bodyPr>
          <a:lstStyle/>
          <a:p>
            <a:pPr algn="ctr"/>
            <a:r>
              <a:rPr sz="2800" b="1" i="0">
                <a:solidFill>
                  <a:srgbClr val="E86B2C"/>
                </a:solidFill>
              </a:rPr>
              <a:t>O(log n)</a:t>
            </a:r>
          </a:p>
        </p:txBody>
      </p:sp>
      <p:sp>
        <p:nvSpPr>
          <p:cNvPr id="11" name="TextBox 10"/>
          <p:cNvSpPr txBox="1"/>
          <p:nvPr/>
        </p:nvSpPr>
        <p:spPr>
          <a:xfrm>
            <a:off x="4572000" y="5394960"/>
            <a:ext cx="2926080" cy="640080"/>
          </a:xfrm>
          <a:prstGeom prst="rect">
            <a:avLst/>
          </a:prstGeom>
          <a:noFill/>
        </p:spPr>
        <p:txBody>
          <a:bodyPr wrap="square">
            <a:spAutoFit/>
          </a:bodyPr>
          <a:lstStyle/>
          <a:p>
            <a:pPr algn="ctr"/>
            <a:r>
              <a:rPr sz="1400" b="0" i="0">
                <a:solidFill>
                  <a:srgbClr val="FFFFFF"/>
                </a:solidFill>
              </a:rPr>
              <a:t>nearest-unit
query (Phase 3)</a:t>
            </a:r>
          </a:p>
        </p:txBody>
      </p:sp>
      <p:sp>
        <p:nvSpPr>
          <p:cNvPr id="12" name="Rectangle 11"/>
          <p:cNvSpPr/>
          <p:nvPr/>
        </p:nvSpPr>
        <p:spPr>
          <a:xfrm>
            <a:off x="8046719" y="4572000"/>
            <a:ext cx="2926080" cy="1645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9" y="4663440"/>
            <a:ext cx="2926080" cy="777240"/>
          </a:xfrm>
          <a:prstGeom prst="rect">
            <a:avLst/>
          </a:prstGeom>
          <a:noFill/>
        </p:spPr>
        <p:txBody>
          <a:bodyPr wrap="square">
            <a:spAutoFit/>
          </a:bodyPr>
          <a:lstStyle/>
          <a:p>
            <a:pPr algn="ctr"/>
            <a:r>
              <a:rPr sz="2800" b="1" i="0">
                <a:solidFill>
                  <a:srgbClr val="E86B2C"/>
                </a:solidFill>
              </a:rPr>
              <a:t>100</a:t>
            </a:r>
          </a:p>
        </p:txBody>
      </p:sp>
      <p:sp>
        <p:nvSpPr>
          <p:cNvPr id="14" name="TextBox 13"/>
          <p:cNvSpPr txBox="1"/>
          <p:nvPr/>
        </p:nvSpPr>
        <p:spPr>
          <a:xfrm>
            <a:off x="8046719" y="5394960"/>
            <a:ext cx="2926080" cy="640080"/>
          </a:xfrm>
          <a:prstGeom prst="rect">
            <a:avLst/>
          </a:prstGeom>
          <a:noFill/>
        </p:spPr>
        <p:txBody>
          <a:bodyPr wrap="square">
            <a:spAutoFit/>
          </a:bodyPr>
          <a:lstStyle/>
          <a:p>
            <a:pPr algn="ctr"/>
            <a:r>
              <a:rPr sz="1400" b="0" i="0">
                <a:solidFill>
                  <a:srgbClr val="FFFFFF"/>
                </a:solidFill>
              </a:rPr>
              <a:t>stress-test
dispatches, 0 crashes</a:t>
            </a:r>
          </a:p>
        </p:txBody>
      </p:sp>
      <p:sp>
        <p:nvSpPr>
          <p:cNvPr id="15" name="TextBox 14"/>
          <p:cNvSpPr txBox="1"/>
          <p:nvPr/>
        </p:nvSpPr>
        <p:spPr>
          <a:xfrm>
            <a:off x="731520" y="6400800"/>
            <a:ext cx="10515600" cy="365760"/>
          </a:xfrm>
          <a:prstGeom prst="rect">
            <a:avLst/>
          </a:prstGeom>
          <a:noFill/>
        </p:spPr>
        <p:txBody>
          <a:bodyPr wrap="square">
            <a:spAutoFit/>
          </a:bodyPr>
          <a:lstStyle/>
          <a:p>
            <a:pPr algn="ctr"/>
            <a:r>
              <a:rPr sz="1300" b="0" i="0">
                <a:solidFill>
                  <a:srgbClr val="88AACC"/>
                </a:solidFill>
              </a:rPr>
              <a:t>github.com/Samia1117/MSCS-532/tree/main/Project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